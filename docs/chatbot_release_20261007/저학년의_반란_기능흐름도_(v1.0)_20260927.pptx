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400a53d0b944a6" /><Relationship Type="http://schemas.openxmlformats.org/officeDocument/2006/relationships/extended-properties" Target="/docProps/app.xml" Id="R855b0c0aab3840a1" /><Relationship Type="http://schemas.openxmlformats.org/officeDocument/2006/relationships/officeDocument" Target="/ppt/presentation.xml" Id="Rb1a0d1b52f4c4a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1448cb78354dc0"/>
  </p:sldMasterIdLst>
  <p:notesMasterIdLst>
    <p:notesMasterId xmlns:r="http://schemas.openxmlformats.org/officeDocument/2006/relationships" r:id="Rf5553f0988894d33"/>
  </p:notesMasterIdLst>
  <p:sldIdLst>
    <p:sldId xmlns:r="http://schemas.openxmlformats.org/officeDocument/2006/relationships" id="256" r:id="R2d0d36d650544e75"/>
    <p:sldId xmlns:r="http://schemas.openxmlformats.org/officeDocument/2006/relationships" id="257" r:id="R0d554005538347d2"/>
    <p:sldId xmlns:r="http://schemas.openxmlformats.org/officeDocument/2006/relationships" id="258" r:id="Ref7e2d0f478e4c29"/>
    <p:sldId xmlns:r="http://schemas.openxmlformats.org/officeDocument/2006/relationships" id="259" r:id="R328713aca6324146"/>
    <p:sldId xmlns:r="http://schemas.openxmlformats.org/officeDocument/2006/relationships" id="260" r:id="Rfa684c80ab184c2e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ffa543bab14033" /><Relationship Type="http://schemas.openxmlformats.org/officeDocument/2006/relationships/slideMaster" Target="/ppt/slideMasters/slideMaster1.xml" Id="R431448cb78354dc0" /><Relationship Type="http://schemas.openxmlformats.org/officeDocument/2006/relationships/notesMaster" Target="/ppt/notesMasters/notesMaster1.xml" Id="Rf5553f0988894d33" /><Relationship Type="http://schemas.openxmlformats.org/officeDocument/2006/relationships/presProps" Target="/ppt/presProps.xml" Id="R1b7df4ee71af4f7a" /><Relationship Type="http://schemas.openxmlformats.org/officeDocument/2006/relationships/viewProps" Target="/ppt/viewProps.xml" Id="R3837bb062a1845ce" /><Relationship Type="http://schemas.openxmlformats.org/officeDocument/2006/relationships/tableStyles" Target="/ppt/tableStyles.xml" Id="R599c49345ee54cbc" /><Relationship Type="http://schemas.openxmlformats.org/officeDocument/2006/relationships/slide" Target="/ppt/slides/slide1.xml" Id="R2d0d36d650544e75" /><Relationship Type="http://schemas.openxmlformats.org/officeDocument/2006/relationships/slide" Target="/ppt/slides/slide2.xml" Id="R0d554005538347d2" /><Relationship Type="http://schemas.openxmlformats.org/officeDocument/2006/relationships/slide" Target="/ppt/slides/slide3.xml" Id="Ref7e2d0f478e4c29" /><Relationship Type="http://schemas.openxmlformats.org/officeDocument/2006/relationships/slide" Target="/ppt/slides/slide4.xml" Id="R328713aca6324146" /><Relationship Type="http://schemas.openxmlformats.org/officeDocument/2006/relationships/slide" Target="/ppt/slides/slide5.xml" Id="Rfa684c80ab184c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27474e978d44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테마">
  <a:themeElements>
    <a:clrScheme name="사용자 지정 48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53F95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사용자 지정 48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67da0eb3d147c0" /><Relationship Type="http://schemas.openxmlformats.org/officeDocument/2006/relationships/notesMaster" Target="/ppt/notesMasters/notesMaster1.xml" Id="R8c00afaa216145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1a9e64910543a1" /><Relationship Type="http://schemas.openxmlformats.org/officeDocument/2006/relationships/notesMaster" Target="/ppt/notesMasters/notesMaster1.xml" Id="Ra6bd1d16e65f4d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c481ffba724f12" /><Relationship Type="http://schemas.openxmlformats.org/officeDocument/2006/relationships/notesMaster" Target="/ppt/notesMasters/notesMaster1.xml" Id="Rbf649517cc564b4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a9218a972e440fd" /><Relationship Type="http://schemas.openxmlformats.org/officeDocument/2006/relationships/notesMaster" Target="/ppt/notesMasters/notesMaster1.xml" Id="Rf46cc73339b944d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399719f6e794861" /><Relationship Type="http://schemas.openxmlformats.org/officeDocument/2006/relationships/notesMaster" Target="/ppt/notesMasters/notesMaster1.xml" Id="R2457e45e7fe847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CampusRAG 챗봇 전용 기능흐름도 v1.0 / 2026-09-27. 근거: docs/저학년의_반란_CampusRAG_챗봇_PRD_v1.1_20260927.docx, frontend-web/src/App.tsx, backend/main.py, backend/schemas.py, core/rag.py. 실제 구현과 PRD를 기반으로 작성. 운영 배포 완료를 의미하지 않음. 개인 일정 및 인증 기능은 제외.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CampusRAG 챗봇 전용 기능흐름도 v1.0 / 2026-09-27. 근거: docs/저학년의_반란_CampusRAG_챗봇_PRD_v1.1_20260927.docx, frontend-web/src/App.tsx, backend/main.py, backend/schemas.py, core/rag.py. 실제 구현과 PRD를 기반으로 작성. 운영 배포 완료를 의미하지 않음. 개인 일정 및 인증 기능은 제외.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CampusRAG 챗봇 전용 기능흐름도 v1.0 / 2026-09-27. 근거: docs/저학년의_반란_CampusRAG_챗봇_PRD_v1.1_20260927.docx, frontend-web/src/App.tsx, backend/main.py, backend/schemas.py, core/rag.py. 실제 구현과 PRD를 기반으로 작성. 운영 배포 완료를 의미하지 않음. 개인 일정 및 인증 기능은 제외.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CampusRAG 챗봇 전용 기능흐름도 v1.0 / 2026-09-27. 근거: docs/저학년의_반란_CampusRAG_챗봇_PRD_v1.1_20260927.docx, frontend-web/src/App.tsx, backend/main.py, backend/schemas.py, core/rag.py. 실제 구현과 PRD를 기반으로 작성. 운영 배포 완료를 의미하지 않음. 개인 일정 및 인증 기능은 제외.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CampusRAG 챗봇 전용 기능흐름도 v1.0 / 2026-09-27. 근거: docs/저학년의_반란_CampusRAG_챗봇_PRD_v1.1_20260927.docx, frontend-web/src/App.tsx, backend/main.py, backend/schemas.py, core/rag.py. 실제 구현과 PRD를 기반으로 작성. 운영 배포 완료를 의미하지 않음. 개인 일정 및 인증 기능은 제외.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0d2010c96c4f15" /><Relationship Type="http://schemas.openxmlformats.org/officeDocument/2006/relationships/image" Target="/ppt/media/image2.png" Id="R9d3120d6e79043c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d623a16295493f" /><Relationship Type="http://schemas.openxmlformats.org/officeDocument/2006/relationships/image" Target="/ppt/media/image2.png" Id="R011038cbb3ec4122" /></Relationships>
</file>

<file path=ppt/slideLayouts/slideLayout1.xml><?xml version="1.0" encoding="utf-8"?>
<p:sldLayout xmlns:p="http://schemas.openxmlformats.org/presentationml/2006/main" matchingName="7_본문_1">
  <p:cSld name="7_본문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 Shape;15;p7">
            <a:extLst xmlns:a="http://schemas.openxmlformats.org/drawingml/2006/main">
              <a:ext uri="{FF2B5EF4-FFF2-40B4-BE49-F238E27FC236}">
                <a16:creationId xmlns:a16="http://schemas.microsoft.com/office/drawing/2014/main" id="{C9F7C34D-6162-4841-8BE3-106A6D3F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8304" y="4876015"/>
            <a:ext cx="487392" cy="20929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- </a:t>
            </a:r>
            <a:fld id="{00000000-1234-1234-1234-123412341234}" type="slidenum">
              <a:rPr sz="1000" b="0" i="0" u="none" cap="none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‹#›</a:t>
            </a:fld>
            <a:r>
              <a:rPr sz="1000" b="0" i="0" u="none" cap="none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 -</a:t>
            </a:r>
            <a:endParaRPr/>
          </a:p>
        </p:txBody>
      </p:sp>
      <p:pic>
        <p:nvPicPr>
          <p:cNvPr id="20" name="Google Shape;16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d3120d6e79043c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" y="4876009"/>
            <a:ext cx="648060" cy="25757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7" name="Google Shape;17;p7">
            <a:extLst xmlns:a="http://schemas.openxmlformats.org/drawingml/2006/main">
              <a:ext uri="{FF2B5EF4-FFF2-40B4-BE49-F238E27FC236}">
                <a16:creationId xmlns:a16="http://schemas.microsoft.com/office/drawing/2014/main" id="{D97D3EA6-02D6-443A-A3D2-5432C689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"/>
            <a:ext cx="9144000" cy="411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2F6F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lt1"/>
              </a:solidFill>
              <a:latin typeface="Malgun Gothic"/>
              <a:ea typeface="Malgun Gothic"/>
              <a:cs typeface="Malgun Gothic"/>
            </a:endParaRPr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1_본문_2">
  <p:cSld name="1_본문_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oogle Shape;19;p8">
            <a:extLst xmlns:a="http://schemas.openxmlformats.org/drawingml/2006/main">
              <a:ext uri="{FF2B5EF4-FFF2-40B4-BE49-F238E27FC236}">
                <a16:creationId xmlns:a16="http://schemas.microsoft.com/office/drawing/2014/main" id="{469EB633-CEA0-4F70-8A7D-266814D1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8304" y="4876015"/>
            <a:ext cx="487392" cy="20929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- </a:t>
            </a:r>
            <a:fld id="{00000000-1234-1234-1234-123412341234}" type="slidenum">
              <a:rPr sz="100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‹#›</a:t>
            </a:fld>
            <a:r>
              <a:rPr sz="100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 -</a:t>
            </a:r>
            <a:endParaRPr/>
          </a:p>
        </p:txBody>
      </p:sp>
      <p:pic>
        <p:nvPicPr>
          <p:cNvPr id="22" name="Google Shape;20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11038cbb3ec412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" y="4876009"/>
            <a:ext cx="648060" cy="25757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e471e215d1984195" /><Relationship Type="http://schemas.openxmlformats.org/officeDocument/2006/relationships/theme" Target="/ppt/slideMasters/theme/theme2.xml" Id="R003ebf7ca0ad4718" /><Relationship Type="http://schemas.openxmlformats.org/officeDocument/2006/relationships/slideLayout" Target="/ppt/slideLayouts/slideLayout1.xml" Id="R42f1ef6da6624488" /><Relationship Type="http://schemas.openxmlformats.org/officeDocument/2006/relationships/slideLayout" Target="/ppt/slideLayouts/slideLayout2.xml" Id="Re54b6153e12e4a0e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6">
            <a:extLst xmlns:a="http://schemas.openxmlformats.org/drawingml/2006/main">
              <a:ext uri="{FF2B5EF4-FFF2-40B4-BE49-F238E27FC236}">
                <a16:creationId xmlns:a16="http://schemas.microsoft.com/office/drawing/2014/main" id="{2DBE8557-0181-4443-B23B-57EDAFCD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139" y="4926837"/>
            <a:ext cx="437735" cy="1017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sz="1000" b="0" i="0" u="none" cap="none">
                <a:solidFill>
                  <a:srgbClr val="3F3F3F"/>
                </a:solidFill>
                <a:latin typeface="Malgun Gothic"/>
                <a:ea typeface="Malgun Gothic"/>
                <a:cs typeface="Malgun Gothic"/>
              </a:rPr>
              <a:t>‹#›</a:t>
            </a:fld>
            <a:endParaRPr sz="1000" b="0" i="0" u="none" cap="none">
              <a:solidFill>
                <a:srgbClr val="3F3F3F"/>
              </a:solidFill>
              <a:latin typeface="Malgun Gothic"/>
              <a:ea typeface="Malgun Gothic"/>
              <a:cs typeface="Malgun Gothic"/>
            </a:endParaRPr>
          </a:p>
        </p:txBody>
      </p:sp>
      <p:pic>
        <p:nvPicPr>
          <p:cNvPr id="14" name="Google Shape;12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471e215d1984195">
            <a:alphaModFix/>
          </a:blip>
          <a:srcRect xmlns:a="http://schemas.openxmlformats.org/drawingml/2006/main" l="0" t="76605" r="0" b="0"/>
          <a:stretch xmlns:a="http://schemas.openxmlformats.org/drawingml/2006/main"/>
        </p:blipFill>
        <p:spPr>
          <a:xfrm xmlns:a="http://schemas.openxmlformats.org/drawingml/2006/main" rot="-5400000" flipH="0" flipV="0">
            <a:off x="4642959" y="4957779"/>
            <a:ext cx="261948" cy="39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" name="Google Shape;13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471e215d1984195">
            <a:alphaModFix/>
          </a:blip>
          <a:srcRect xmlns:a="http://schemas.openxmlformats.org/drawingml/2006/main" l="0" t="76605" r="0" b="0"/>
          <a:stretch xmlns:a="http://schemas.openxmlformats.org/drawingml/2006/main"/>
        </p:blipFill>
        <p:spPr>
          <a:xfrm xmlns:a="http://schemas.openxmlformats.org/drawingml/2006/main" rot="5400000" flipH="1" flipV="0">
            <a:off x="4239099" y="4957779"/>
            <a:ext cx="261948" cy="39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f1ef6da6624488"/>
    <p:sldLayoutId xmlns:r="http://schemas.openxmlformats.org/officeDocument/2006/relationships" id="2147483650" r:id="Re54b6153e12e4a0e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xmlns:a="http://schemas.openxmlformats.org/drawingml/2006/main" val="F26B43"/>
          </p15:clr>
        </p15:guide>
        <p15:guide id="2" pos="2880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Office 테마">
  <a:themeElements>
    <a:clrScheme name="사용자 지정 48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53F95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사용자 지정 48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7f378177bf4a44" /><Relationship Type="http://schemas.openxmlformats.org/officeDocument/2006/relationships/notesSlide" Target="/ppt/notesSlides/notesSlide1.xml" Id="R65e5249985a749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f60041d5374891" /><Relationship Type="http://schemas.openxmlformats.org/officeDocument/2006/relationships/notesSlide" Target="/ppt/notesSlides/notesSlide2.xml" Id="R6f97052f3ae840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0e1f0c3f70401f" /><Relationship Type="http://schemas.openxmlformats.org/officeDocument/2006/relationships/notesSlide" Target="/ppt/notesSlides/notesSlide3.xml" Id="Rad02a68eac9a41e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8338a660b04e50" /><Relationship Type="http://schemas.openxmlformats.org/officeDocument/2006/relationships/notesSlide" Target="/ppt/notesSlides/notesSlide4.xml" Id="R0b9b6d50de314b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c00cf0adce45d9" /><Relationship Type="http://schemas.openxmlformats.org/officeDocument/2006/relationships/notesSlide" Target="/ppt/notesSlides/notesSlide5.xml" Id="R15cd6be94393454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Google Shape;25;p1">
            <a:extLst xmlns:a="http://schemas.openxmlformats.org/drawingml/2006/main">
              <a:ext uri="{FF2B5EF4-FFF2-40B4-BE49-F238E27FC236}">
                <a16:creationId xmlns:a16="http://schemas.microsoft.com/office/drawing/2014/main" id="{CB443D89-440B-465D-BA33-C55B3D82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57150"/>
            <a:ext cx="657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058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algun Gothic"/>
              <a:buNone/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 i="0" u="non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CampusRAG 기능흐름도 · 범위와 기호</a:t>
            </a:r>
            <a:endParaRPr sz="1700" b="1" i="0" u="none" cap="none">
              <a:solidFill>
                <a:schemeClr val="lt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6" name="Google Shape;26;p1">
            <a:extLst xmlns:a="http://schemas.openxmlformats.org/drawingml/2006/main">
              <a:ext uri="{FF2B5EF4-FFF2-40B4-BE49-F238E27FC236}">
                <a16:creationId xmlns:a16="http://schemas.microsoft.com/office/drawing/2014/main" id="{C273F961-3EC1-4360-9406-637B6B50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715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455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35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i="0" u="non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저학년의 반란</a:t>
            </a:r>
            <a:endParaRPr sz="1700" b="0" i="0" u="none" cap="none">
              <a:solidFill>
                <a:schemeClr val="lt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973665-269F-4F5A-A76F-4C0B3728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23875"/>
            <a:ext cx="847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공식 근거를 찾아 답변하고, 학생이 원문에서 최종 확인하는 학내 정보 챗봇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93D898-B3C3-4DF2-8CF0-1B1C176C3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95375"/>
            <a:ext cx="157162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DE7F6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시작 / 종료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F94C84-4F31-4395-B45B-9440759F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152525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접속 시작, 질문 처리 종료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4D520D-E2BF-40CC-BF0A-A9B240CA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76425"/>
            <a:ext cx="15716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C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처리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138ADC-8A02-417C-9747-92B6C0B8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933575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검색, 답변 생성, 화면 표시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F33BEC-C8EE-49DD-9857-71FFEBA8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57475"/>
            <a:ext cx="1571625" cy="52387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DF5E5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판단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E31E4F-A01E-4348-98A1-0DDF82F4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714625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조건에 따라 예 / 아니오 분기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D46514-30D8-4B4C-87F7-EF2FC569B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38525"/>
            <a:ext cx="1571625" cy="52387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입력 / 출력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82CE97-A566-4C4E-9D77-07875A4B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495675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질문 입력, 답변·출처 전달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4099C81-70A6-4699-B810-E49CAE67F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047750"/>
            <a:ext cx="223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365C8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365C8D"/>
                </a:solidFill>
                <a:latin typeface="Malgun Gothic"/>
                <a:ea typeface="Malgun Gothic"/>
                <a:cs typeface="Malgun Gothic"/>
              </a:rPr>
              <a:t>작성 범위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57D34D2-65F7-46BE-BB69-0547B1CF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485900"/>
            <a:ext cx="25717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학사 · 장학 · 교내 생활 질문</a:t>
            </a:r>
          </a:p>
          <a:p xmlns:a="http://schemas.openxmlformats.org/drawingml/2006/main">
            <a:pPr algn="l">
              <a:defRPr sz="1275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공식 공지와 안내 근거 검색</a:t>
            </a:r>
          </a:p>
          <a:p xmlns:a="http://schemas.openxmlformats.org/drawingml/2006/main">
            <a:pPr algn="l">
              <a:defRPr sz="1275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답변 · 출처 카드 · 원문 확인</a:t>
            </a:r>
          </a:p>
          <a:p xmlns:a="http://schemas.openxmlformats.org/drawingml/2006/main">
            <a:pPr algn="l">
              <a:defRPr sz="1275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근거 부족 및 오류 안내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A2E581F-3591-4D49-9A67-E7276F30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86125"/>
            <a:ext cx="26193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로그인 없이 이용</a:t>
            </a:r>
          </a:p>
          <a:p xmlns:a="http://schemas.openxmlformats.org/drawingml/2006/main">
            <a:pPr algn="l">
              <a:defRPr sz="1275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질문별 독립 검색·답변</a:t>
            </a:r>
          </a:p>
          <a:p xmlns:a="http://schemas.openxmlformats.org/drawingml/2006/main">
            <a:pPr algn="l">
              <a:defRPr sz="1275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개인 일정 · 캘린더 · 알림 제외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3C1D6D2-F9A9-4B5E-BB44-ACE258C1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76750"/>
            <a:ext cx="804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v1.0  |  2026.09.27  |  챗봇 전용 PRD v1.1 기준</a:t>
            </a:r>
          </a:p>
        </p:txBody>
      </p:sp>
    </p:spTree>
    <p:extLst>
      <p:ext uri="{BB962C8B-B14F-4D97-AF65-F5344CB8AC3E}">
        <p14:creationId xmlns:p14="http://schemas.microsoft.com/office/powerpoint/2010/main" val="128370395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Google Shape;76;p2">
            <a:extLst xmlns:a="http://schemas.openxmlformats.org/drawingml/2006/main">
              <a:ext uri="{FF2B5EF4-FFF2-40B4-BE49-F238E27FC236}">
                <a16:creationId xmlns:a16="http://schemas.microsoft.com/office/drawing/2014/main" id="{FA542DF8-36E7-4856-B16E-2DD652B23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57150"/>
            <a:ext cx="657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058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algun Gothic"/>
              <a:buNone/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CampusRAG 기능흐름도 · 전체</a:t>
            </a:r>
            <a:endParaRPr sz="1700" b="1">
              <a:solidFill>
                <a:schemeClr val="lt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77" name="Google Shape;77;p2">
            <a:extLst xmlns:a="http://schemas.openxmlformats.org/drawingml/2006/main">
              <a:ext uri="{FF2B5EF4-FFF2-40B4-BE49-F238E27FC236}">
                <a16:creationId xmlns:a16="http://schemas.microsoft.com/office/drawing/2014/main" id="{BD1D2B65-2C75-4649-9720-81F00B038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715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455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35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저학년의 반란</a:t>
            </a:r>
            <a:endParaRPr sz="1700">
              <a:solidFill>
                <a:schemeClr val="lt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ECFD5A0-D7EB-423F-8DE6-27CE344A6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23875"/>
            <a:ext cx="847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학생의 질문 → 공식 근거 검색 → 답변·출처 확인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BF5DE0A-E7CA-4B52-A9F7-0B5ED44B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19200"/>
            <a:ext cx="1000125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EDE7F6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0CAF718-A0EB-4B5E-928E-9927E67A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219200"/>
            <a:ext cx="17621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C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CampusRAG 접속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5B4B4D7-2BBB-45FE-930F-153B6782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219200"/>
            <a:ext cx="1762125" cy="42862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학내 질문 입력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673F8E3-25B4-477C-8C6C-3C330796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219200"/>
            <a:ext cx="2333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C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질문 요청 전송</a:t>
            </a:r>
          </a:p>
        </p:txBody>
      </p:sp>
      <p:cxnSp>
        <p:nvCxnSpPr>
          <p:cNvPr id="105" name=""/>
          <p:cNvCxnSpPr>
            <a:stCxn xmlns:a="http://schemas.openxmlformats.org/drawingml/2006/main" id="79" idx="3"/>
            <a:endCxn xmlns:a="http://schemas.openxmlformats.org/drawingml/2006/main" id="80" idx="1"/>
          </p:cNvCxnSpPr>
          <p:nvPr/>
        </p:nvCxnSpPr>
        <p:spPr>
          <a:xfrm xmlns:a="http://schemas.openxmlformats.org/drawingml/2006/main">
            <a:off x="1381125" y="1433513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46475"/>
            </a:solidFill>
            <a:tailEnd type="triangle" w="sm" len="sm"/>
          </a:ln>
        </p:spPr>
      </p:cxnSp>
      <p:cxnSp>
        <p:nvCxnSpPr>
          <p:cNvPr id="106" name=""/>
          <p:cNvCxnSpPr>
            <a:stCxn xmlns:a="http://schemas.openxmlformats.org/drawingml/2006/main" id="80" idx="3"/>
            <a:endCxn xmlns:a="http://schemas.openxmlformats.org/drawingml/2006/main" id="81" idx="5"/>
          </p:cNvCxnSpPr>
          <p:nvPr/>
        </p:nvCxnSpPr>
        <p:spPr>
          <a:xfrm xmlns:a="http://schemas.openxmlformats.org/drawingml/2006/main">
            <a:off x="3571875" y="1433513"/>
            <a:ext cx="529828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46475"/>
            </a:solidFill>
            <a:tailEnd type="triangle" w="sm" len="sm"/>
          </a:ln>
        </p:spPr>
      </p:cxnSp>
      <p:cxnSp>
        <p:nvCxnSpPr>
          <p:cNvPr id="107" name=""/>
          <p:cNvCxnSpPr>
            <a:stCxn xmlns:a="http://schemas.openxmlformats.org/drawingml/2006/main" id="81" idx="2"/>
            <a:endCxn xmlns:a="http://schemas.openxmlformats.org/drawingml/2006/main" id="82" idx="1"/>
          </p:cNvCxnSpPr>
          <p:nvPr/>
        </p:nvCxnSpPr>
        <p:spPr>
          <a:xfrm xmlns:a="http://schemas.openxmlformats.org/drawingml/2006/main">
            <a:off x="5756672" y="1433513"/>
            <a:ext cx="577453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46475"/>
            </a:solidFill>
            <a:tailEnd type="triangle" w="sm" len="sm"/>
          </a:ln>
        </p:spPr>
      </p:cxn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F548D1D-8714-4883-92AB-CD7664E0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81250"/>
            <a:ext cx="23336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C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공식 근거 검색</a:t>
            </a:r>
          </a:p>
        </p:txBody>
      </p:sp>
      <p:cxnSp>
        <p:nvCxnSpPr>
          <p:cNvPr id="109" name=""/>
          <p:cNvCxnSpPr>
            <a:stCxn xmlns:a="http://schemas.openxmlformats.org/drawingml/2006/main" id="82" idx="2"/>
            <a:endCxn xmlns:a="http://schemas.openxmlformats.org/drawingml/2006/main" id="86" idx="0"/>
          </p:cNvCxnSpPr>
          <p:nvPr/>
        </p:nvCxnSpPr>
        <p:spPr>
          <a:xfrm xmlns:a="http://schemas.openxmlformats.org/drawingml/2006/main">
            <a:off x="7500938" y="1647825"/>
            <a:ext cx="0" cy="7334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46475"/>
            </a:solidFill>
            <a:tailEnd type="triangle" w="sm" len="sm"/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561933B-E554-4BB6-B4C0-03195809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81250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C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답변 또는 안내 생성</a:t>
            </a:r>
          </a:p>
        </p:txBody>
      </p:sp>
      <p:cxnSp>
        <p:nvCxnSpPr>
          <p:cNvPr id="111" name=""/>
          <p:cNvCxnSpPr>
            <a:stCxn xmlns:a="http://schemas.openxmlformats.org/drawingml/2006/main" id="86" idx="1"/>
            <a:endCxn xmlns:a="http://schemas.openxmlformats.org/drawingml/2006/main" id="88" idx="3"/>
          </p:cNvCxnSpPr>
          <p:nvPr/>
        </p:nvCxnSpPr>
        <p:spPr>
          <a:xfrm xmlns:a="http://schemas.openxmlformats.org/drawingml/2006/main" flipH="1">
            <a:off x="5857875" y="2643188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46475"/>
            </a:solidFill>
            <a:tailEnd type="triangle" w="sm" len="sm"/>
          </a:ln>
        </p:spPr>
      </p:cxn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ECE49AE-5BE5-4007-842B-2D2076C6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81250"/>
            <a:ext cx="2571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C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답변 · 출처 카드 표시</a:t>
            </a:r>
          </a:p>
        </p:txBody>
      </p:sp>
      <p:cxnSp>
        <p:nvCxnSpPr>
          <p:cNvPr id="113" name=""/>
          <p:cNvCxnSpPr>
            <a:stCxn xmlns:a="http://schemas.openxmlformats.org/drawingml/2006/main" id="88" idx="1"/>
            <a:endCxn xmlns:a="http://schemas.openxmlformats.org/drawingml/2006/main" id="90" idx="3"/>
          </p:cNvCxnSpPr>
          <p:nvPr/>
        </p:nvCxnSpPr>
        <p:spPr>
          <a:xfrm xmlns:a="http://schemas.openxmlformats.org/drawingml/2006/main" flipH="1">
            <a:off x="3190875" y="2643188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46475"/>
            </a:solidFill>
            <a:tailEnd type="triangle" w="sm" len="sm"/>
          </a:ln>
        </p:spPr>
      </p:cxn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ACB1F91-C77E-4B4D-9B31-2998E88A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0"/>
            <a:ext cx="2571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C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공식 원문 확인</a:t>
            </a:r>
          </a:p>
        </p:txBody>
      </p:sp>
      <p:cxnSp>
        <p:nvCxnSpPr>
          <p:cNvPr id="115" name=""/>
          <p:cNvCxnSpPr>
            <a:stCxn xmlns:a="http://schemas.openxmlformats.org/drawingml/2006/main" id="90" idx="2"/>
            <a:endCxn xmlns:a="http://schemas.openxmlformats.org/drawingml/2006/main" id="92" idx="0"/>
          </p:cNvCxnSpPr>
          <p:nvPr/>
        </p:nvCxnSpPr>
        <p:spPr>
          <a:xfrm xmlns:a="http://schemas.openxmlformats.org/drawingml/2006/main">
            <a:off x="1905000" y="2905125"/>
            <a:ext cx="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46475"/>
            </a:solidFill>
            <a:tailEnd type="triangle" w="sm" len="sm"/>
          </a:ln>
        </p:spPr>
      </p:cxn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6740F69-D940-4404-AFA3-F783A0D30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619500"/>
            <a:ext cx="21907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DE7F6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정보 확인 완료</a:t>
            </a:r>
          </a:p>
        </p:txBody>
      </p:sp>
      <p:cxnSp>
        <p:nvCxnSpPr>
          <p:cNvPr id="117" name=""/>
          <p:cNvCxnSpPr>
            <a:stCxn xmlns:a="http://schemas.openxmlformats.org/drawingml/2006/main" id="92" idx="3"/>
            <a:endCxn xmlns:a="http://schemas.openxmlformats.org/drawingml/2006/main" id="94" idx="1"/>
          </p:cNvCxnSpPr>
          <p:nvPr/>
        </p:nvCxnSpPr>
        <p:spPr>
          <a:xfrm xmlns:a="http://schemas.openxmlformats.org/drawingml/2006/main">
            <a:off x="3190875" y="3881438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46475"/>
            </a:solidFill>
            <a:tailEnd type="triangle" w="sm" len="sm"/>
          </a:ln>
        </p:spPr>
      </p:cxn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A0C3820-769C-4C21-A73D-B52245F3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71875"/>
            <a:ext cx="247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더 궁금하면 새 질문 입력</a:t>
            </a:r>
          </a:p>
          <a:p xmlns:a="http://schemas.openxmlformats.org/drawingml/2006/main">
            <a:pPr algn="l">
              <a:defRPr sz="1275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(연도 · 학기 · 주제를 구체화)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3CA2729-B856-4395-860E-EDCE4E9A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505325"/>
            <a:ext cx="828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※ 근거가 부족하면 내용을 단정하지 않고 원문 확인 또는 질문 구체화를 안내합니다.</a:t>
            </a:r>
          </a:p>
        </p:txBody>
      </p:sp>
    </p:spTree>
    <p:extLst>
      <p:ext uri="{BB962C8B-B14F-4D97-AF65-F5344CB8AC3E}">
        <p14:creationId xmlns:p14="http://schemas.microsoft.com/office/powerpoint/2010/main" val="13558339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p3">
            <a:extLst xmlns:a="http://schemas.openxmlformats.org/drawingml/2006/main">
              <a:ext uri="{FF2B5EF4-FFF2-40B4-BE49-F238E27FC236}">
                <a16:creationId xmlns:a16="http://schemas.microsoft.com/office/drawing/2014/main" id="{C542E678-C3B2-414C-8A90-8FF2CA2A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57150"/>
            <a:ext cx="657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058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algun Gothic"/>
              <a:buNone/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CampusRAG 기능흐름도 · 질문 입력</a:t>
            </a:r>
            <a:endParaRPr sz="1700" b="1">
              <a:solidFill>
                <a:schemeClr val="lt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84" name="Google Shape;84;p3">
            <a:extLst xmlns:a="http://schemas.openxmlformats.org/drawingml/2006/main">
              <a:ext uri="{FF2B5EF4-FFF2-40B4-BE49-F238E27FC236}">
                <a16:creationId xmlns:a16="http://schemas.microsoft.com/office/drawing/2014/main" id="{D2F40090-95AD-4A20-AFD5-824C98D2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715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455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35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저학년의 반란</a:t>
            </a:r>
            <a:endParaRPr sz="1700">
              <a:solidFill>
                <a:schemeClr val="lt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2C933D7-4579-4A56-95C0-C83AB71C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23875"/>
            <a:ext cx="847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로그인 없이 질문하며, 응답 대기 중에는 중복 전송을 막습니다.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32B6169-B38C-4A5D-9F20-03A3F23B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1809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E7F6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챗봇 화면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214A06B-BB23-4623-A98C-46137DB7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190625"/>
            <a:ext cx="1857375" cy="4762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질문 작성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BA56C6B-B320-4C17-8D5D-B9E26393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066800"/>
            <a:ext cx="1905000" cy="7239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DF5E5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전송 가능?</a:t>
            </a:r>
          </a:p>
        </p:txBody>
      </p:sp>
      <p:cxnSp>
        <p:nvCxnSpPr>
          <p:cNvPr id="111" name=""/>
          <p:cNvCxnSpPr>
            <a:stCxn xmlns:a="http://schemas.openxmlformats.org/drawingml/2006/main" id="86" idx="3"/>
            <a:endCxn xmlns:a="http://schemas.openxmlformats.org/drawingml/2006/main" id="87" idx="5"/>
          </p:cNvCxnSpPr>
          <p:nvPr/>
        </p:nvCxnSpPr>
        <p:spPr>
          <a:xfrm xmlns:a="http://schemas.openxmlformats.org/drawingml/2006/main">
            <a:off x="2476500" y="1428750"/>
            <a:ext cx="1059656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46475"/>
            </a:solidFill>
            <a:tailEnd type="triangle" w="sm" len="sm"/>
          </a:ln>
        </p:spPr>
      </p:cxnSp>
      <p:cxnSp>
        <p:nvCxnSpPr>
          <p:cNvPr id="112" name=""/>
          <p:cNvCxnSpPr>
            <a:stCxn xmlns:a="http://schemas.openxmlformats.org/drawingml/2006/main" id="87" idx="2"/>
            <a:endCxn xmlns:a="http://schemas.openxmlformats.org/drawingml/2006/main" id="88" idx="1"/>
          </p:cNvCxnSpPr>
          <p:nvPr/>
        </p:nvCxnSpPr>
        <p:spPr>
          <a:xfrm xmlns:a="http://schemas.openxmlformats.org/drawingml/2006/main">
            <a:off x="5274469" y="1428750"/>
            <a:ext cx="1107281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46475"/>
            </a:solidFill>
            <a:tailEnd type="triangle" w="sm" len="sm"/>
          </a:ln>
        </p:spPr>
      </p:cxn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327EB44-0ED1-4CAB-A5D4-04AD4B4FF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428875"/>
            <a:ext cx="18573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C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입력 보완 / 대기</a:t>
            </a:r>
          </a:p>
        </p:txBody>
      </p:sp>
      <p:cxnSp>
        <p:nvCxnSpPr>
          <p:cNvPr id="114" name=""/>
          <p:cNvCxnSpPr>
            <a:stCxn xmlns:a="http://schemas.openxmlformats.org/drawingml/2006/main" id="88" idx="2"/>
            <a:endCxn xmlns:a="http://schemas.openxmlformats.org/drawingml/2006/main" id="91" idx="0"/>
          </p:cNvCxnSpPr>
          <p:nvPr/>
        </p:nvCxnSpPr>
        <p:spPr>
          <a:xfrm xmlns:a="http://schemas.openxmlformats.org/drawingml/2006/main">
            <a:off x="7334250" y="1790700"/>
            <a:ext cx="23813" cy="6381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546475"/>
            </a:solidFill>
            <a:tailEnd type="triangle" w="sm" len="sm"/>
          </a:ln>
        </p:spPr>
      </p:cxn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5A1689D-A8F9-4BFB-BA3B-903B07DA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981200"/>
            <a:ext cx="61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아니오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48CCA38-FFBA-4D32-B45D-6CF6DED4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28875"/>
            <a:ext cx="2095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C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질문 전송 · 로딩 표시</a:t>
            </a:r>
          </a:p>
        </p:txBody>
      </p:sp>
      <p:cxnSp>
        <p:nvCxnSpPr>
          <p:cNvPr id="117" name=""/>
          <p:cNvCxnSpPr>
            <a:stCxn xmlns:a="http://schemas.openxmlformats.org/drawingml/2006/main" id="88" idx="1"/>
            <a:endCxn xmlns:a="http://schemas.openxmlformats.org/drawingml/2006/main" id="94" idx="0"/>
          </p:cNvCxnSpPr>
          <p:nvPr/>
        </p:nvCxnSpPr>
        <p:spPr>
          <a:xfrm xmlns:a="http://schemas.openxmlformats.org/drawingml/2006/main" flipH="1">
            <a:off x="4524375" y="1428750"/>
            <a:ext cx="1857375" cy="1000125"/>
          </a:xfrm>
          <a:prstGeom xmlns:a="http://schemas.openxmlformats.org/drawingml/2006/main" prst="bentConnector4">
            <a:avLst>
              <a:gd name="adj1" fmla="val 12308"/>
              <a:gd name="adj2" fmla="val 42857"/>
            </a:avLst>
          </a:prstGeom>
          <a:ln xmlns:a="http://schemas.openxmlformats.org/drawingml/2006/main" w="14288">
            <a:solidFill>
              <a:srgbClr val="546475"/>
            </a:solidFill>
            <a:tailEnd type="triangle" w="sm" len="sm"/>
          </a:ln>
        </p:spPr>
      </p:cxn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2656693-E60D-495D-93C8-516A73C7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19716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5680CD2-BC92-4ADE-A87C-69B70D67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2887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C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서버 입력 검증</a:t>
            </a:r>
          </a:p>
        </p:txBody>
      </p:sp>
      <p:cxnSp>
        <p:nvCxnSpPr>
          <p:cNvPr id="120" name=""/>
          <p:cNvCxnSpPr>
            <a:stCxn xmlns:a="http://schemas.openxmlformats.org/drawingml/2006/main" id="94" idx="1"/>
            <a:endCxn xmlns:a="http://schemas.openxmlformats.org/drawingml/2006/main" id="97" idx="3"/>
          </p:cNvCxnSpPr>
          <p:nvPr/>
        </p:nvCxnSpPr>
        <p:spPr>
          <a:xfrm xmlns:a="http://schemas.openxmlformats.org/drawingml/2006/main" flipH="1">
            <a:off x="2809875" y="2690813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46475"/>
            </a:solidFill>
            <a:tailEnd type="triangle" w="sm" len="sm"/>
          </a:ln>
        </p:spPr>
      </p:cxn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EBB20B8-2B14-43DD-9785-F8D57CC6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67125"/>
            <a:ext cx="2952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C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유효한 요청 → 검색 처리</a:t>
            </a:r>
          </a:p>
        </p:txBody>
      </p:sp>
      <p:cxnSp>
        <p:nvCxnSpPr>
          <p:cNvPr id="122" name=""/>
          <p:cNvCxnSpPr>
            <a:stCxn xmlns:a="http://schemas.openxmlformats.org/drawingml/2006/main" id="97" idx="2"/>
            <a:endCxn xmlns:a="http://schemas.openxmlformats.org/drawingml/2006/main" id="99" idx="0"/>
          </p:cNvCxnSpPr>
          <p:nvPr/>
        </p:nvCxnSpPr>
        <p:spPr>
          <a:xfrm xmlns:a="http://schemas.openxmlformats.org/drawingml/2006/main">
            <a:off x="1714500" y="2952750"/>
            <a:ext cx="381000" cy="714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546475"/>
            </a:solidFill>
            <a:tailEnd type="triangle" w="sm" len="sm"/>
          </a:ln>
        </p:spPr>
      </p:cxn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67658BF-BA47-4A55-8BDE-E571A7D3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67125"/>
            <a:ext cx="3524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F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잘못된 요청 → 오류 안내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E47B0A8-7521-44E6-A612-B14CAD5C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9565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입력 오류 시</a:t>
            </a:r>
          </a:p>
        </p:txBody>
      </p:sp>
      <p:cxnSp>
        <p:nvCxnSpPr>
          <p:cNvPr id="125" name=""/>
          <p:cNvCxnSpPr>
            <a:stCxn xmlns:a="http://schemas.openxmlformats.org/drawingml/2006/main" id="97" idx="2"/>
            <a:endCxn xmlns:a="http://schemas.openxmlformats.org/drawingml/2006/main" id="101" idx="1"/>
          </p:cNvCxnSpPr>
          <p:nvPr/>
        </p:nvCxnSpPr>
        <p:spPr>
          <a:xfrm xmlns:a="http://schemas.openxmlformats.org/drawingml/2006/main">
            <a:off x="1714500" y="2952750"/>
            <a:ext cx="3048000" cy="976313"/>
          </a:xfrm>
          <a:prstGeom xmlns:a="http://schemas.openxmlformats.org/drawingml/2006/main" prst="bentConnector5">
            <a:avLst>
              <a:gd name="adj1" fmla="val 0"/>
              <a:gd name="adj2" fmla="val 23415"/>
              <a:gd name="adj3" fmla="val 65000"/>
            </a:avLst>
          </a:prstGeom>
          <a:ln xmlns:a="http://schemas.openxmlformats.org/drawingml/2006/main" w="14288">
            <a:solidFill>
              <a:srgbClr val="546475"/>
            </a:solidFill>
            <a:tailEnd type="triangle" w="sm" len="sm"/>
          </a:ln>
        </p:spPr>
      </p:cxn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425DEA8-B930-412D-88F7-FF8EC08B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495800"/>
            <a:ext cx="838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입력 기준: 공백이 아닌 질문 · 최대 500자  |  오류 확인 후 질문을 수정해 다시 전송</a:t>
            </a:r>
          </a:p>
        </p:txBody>
      </p:sp>
    </p:spTree>
    <p:extLst>
      <p:ext uri="{BB962C8B-B14F-4D97-AF65-F5344CB8AC3E}">
        <p14:creationId xmlns:p14="http://schemas.microsoft.com/office/powerpoint/2010/main" val="212417376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" name="Google Shape;90;p4">
            <a:extLst xmlns:a="http://schemas.openxmlformats.org/drawingml/2006/main">
              <a:ext uri="{FF2B5EF4-FFF2-40B4-BE49-F238E27FC236}">
                <a16:creationId xmlns:a16="http://schemas.microsoft.com/office/drawing/2014/main" id="{C26F33E4-7514-438F-AF04-0C1A33A5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57150"/>
            <a:ext cx="657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058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algun Gothic"/>
              <a:buNone/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CampusRAG 기능흐름도 · 근거 검색과 답변</a:t>
            </a:r>
            <a:endParaRPr sz="1700" b="1">
              <a:solidFill>
                <a:schemeClr val="lt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91" name="Google Shape;91;p4">
            <a:extLst xmlns:a="http://schemas.openxmlformats.org/drawingml/2006/main">
              <a:ext uri="{FF2B5EF4-FFF2-40B4-BE49-F238E27FC236}">
                <a16:creationId xmlns:a16="http://schemas.microsoft.com/office/drawing/2014/main" id="{38209944-F83A-44D8-B574-7137E2F2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715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455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35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저학년의 반란</a:t>
            </a:r>
            <a:endParaRPr sz="1700">
              <a:solidFill>
                <a:schemeClr val="lt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9A0FD25-4AA0-4FEA-B2A4-C36420D93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23875"/>
            <a:ext cx="847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저장된 공식 공지·안내 청크에서 질문에 맞는 근거를 선별합니다.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C781EEE-A78E-4FF3-BBA5-B28B2DE5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62050"/>
            <a:ext cx="1666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C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검증된 질문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319114C-BCB2-4A39-B204-9EA37EFAD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16205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C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질문 임베딩 · 검색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BD28574-6304-49F1-8BF2-BE02DAFF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162050"/>
            <a:ext cx="1857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C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근거 문서 선별</a:t>
            </a:r>
          </a:p>
        </p:txBody>
      </p:sp>
      <p:cxnSp>
        <p:nvCxnSpPr>
          <p:cNvPr id="121" name=""/>
          <p:cNvCxnSpPr>
            <a:stCxn xmlns:a="http://schemas.openxmlformats.org/drawingml/2006/main" id="93" idx="3"/>
            <a:endCxn xmlns:a="http://schemas.openxmlformats.org/drawingml/2006/main" id="94" idx="1"/>
          </p:cNvCxnSpPr>
          <p:nvPr/>
        </p:nvCxnSpPr>
        <p:spPr>
          <a:xfrm xmlns:a="http://schemas.openxmlformats.org/drawingml/2006/main">
            <a:off x="2047875" y="13906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46475"/>
            </a:solidFill>
            <a:tailEnd type="triangle" w="sm" len="sm"/>
          </a:ln>
        </p:spPr>
      </p:cxnSp>
      <p:cxnSp>
        <p:nvCxnSpPr>
          <p:cNvPr id="122" name=""/>
          <p:cNvCxnSpPr>
            <a:stCxn xmlns:a="http://schemas.openxmlformats.org/drawingml/2006/main" id="94" idx="3"/>
            <a:endCxn xmlns:a="http://schemas.openxmlformats.org/drawingml/2006/main" id="95" idx="1"/>
          </p:cNvCxnSpPr>
          <p:nvPr/>
        </p:nvCxnSpPr>
        <p:spPr>
          <a:xfrm xmlns:a="http://schemas.openxmlformats.org/drawingml/2006/main">
            <a:off x="4667250" y="139065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46475"/>
            </a:solidFill>
            <a:tailEnd type="triangle" w="sm" len="sm"/>
          </a:ln>
        </p:spPr>
      </p:cxn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00815DA-B6FB-4740-B32C-06AB7653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76500"/>
            <a:ext cx="1381125" cy="6667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0F5FC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공식 공지 지식 DB</a:t>
            </a:r>
          </a:p>
          <a:p xmlns:a="http://schemas.openxmlformats.org/drawingml/2006/main">
            <a:pPr algn="ctr">
              <a:defRPr sz="1125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ChromaDB</a:t>
            </a:r>
          </a:p>
        </p:txBody>
      </p:sp>
      <p:cxnSp>
        <p:nvCxnSpPr>
          <p:cNvPr id="124" name=""/>
          <p:cNvCxnSpPr>
            <a:stCxn xmlns:a="http://schemas.openxmlformats.org/drawingml/2006/main" id="98" idx="1"/>
            <a:endCxn xmlns:a="http://schemas.openxmlformats.org/drawingml/2006/main" id="95" idx="3"/>
          </p:cNvCxnSpPr>
          <p:nvPr/>
        </p:nvCxnSpPr>
        <p:spPr>
          <a:xfrm xmlns:a="http://schemas.openxmlformats.org/drawingml/2006/main" flipH="1" flipV="1">
            <a:off x="7143750" y="1390650"/>
            <a:ext cx="976313" cy="1085850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4288">
            <a:solidFill>
              <a:srgbClr val="546475"/>
            </a:solidFill>
            <a:tailEnd type="triangle" w="sm" len="sm"/>
          </a:ln>
        </p:spPr>
      </p:cxn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4067443-5B0E-4770-AEBB-A4B2BB17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19325"/>
            <a:ext cx="2333625" cy="7620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DF5E5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관련 근거 존재?</a:t>
            </a:r>
          </a:p>
        </p:txBody>
      </p:sp>
      <p:cxnSp>
        <p:nvCxnSpPr>
          <p:cNvPr id="126" name=""/>
          <p:cNvCxnSpPr>
            <a:stCxn xmlns:a="http://schemas.openxmlformats.org/drawingml/2006/main" id="95" idx="2"/>
            <a:endCxn xmlns:a="http://schemas.openxmlformats.org/drawingml/2006/main" id="100" idx="0"/>
          </p:cNvCxnSpPr>
          <p:nvPr/>
        </p:nvCxnSpPr>
        <p:spPr>
          <a:xfrm xmlns:a="http://schemas.openxmlformats.org/drawingml/2006/main">
            <a:off x="6215063" y="1619250"/>
            <a:ext cx="0" cy="6000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46475"/>
            </a:solidFill>
            <a:tailEnd type="triangle" w="sm" len="sm"/>
          </a:ln>
        </p:spPr>
      </p:cxn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2A9D05D-0E25-440E-95BB-E14169B6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38125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F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근거 부족 안내</a:t>
            </a:r>
          </a:p>
        </p:txBody>
      </p:sp>
      <p:cxnSp>
        <p:nvCxnSpPr>
          <p:cNvPr id="128" name=""/>
          <p:cNvCxnSpPr>
            <a:stCxn xmlns:a="http://schemas.openxmlformats.org/drawingml/2006/main" id="100" idx="1"/>
            <a:endCxn xmlns:a="http://schemas.openxmlformats.org/drawingml/2006/main" id="102" idx="3"/>
          </p:cNvCxnSpPr>
          <p:nvPr/>
        </p:nvCxnSpPr>
        <p:spPr>
          <a:xfrm xmlns:a="http://schemas.openxmlformats.org/drawingml/2006/main" flipH="1">
            <a:off x="4429125" y="2600325"/>
            <a:ext cx="619125" cy="190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546475"/>
            </a:solidFill>
            <a:tailEnd type="triangle" w="sm" len="sm"/>
          </a:ln>
        </p:spPr>
      </p:cxn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166FE7C-BDB5-4B87-B88A-8D2C522D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09825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아니오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FDB02A6-6AD7-4C7D-9FBD-9371838B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505200"/>
            <a:ext cx="2333625" cy="7620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DF5E5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본문 확인 가능?</a:t>
            </a:r>
          </a:p>
        </p:txBody>
      </p:sp>
      <p:cxnSp>
        <p:nvCxnSpPr>
          <p:cNvPr id="131" name=""/>
          <p:cNvCxnSpPr>
            <a:stCxn xmlns:a="http://schemas.openxmlformats.org/drawingml/2006/main" id="100" idx="2"/>
            <a:endCxn xmlns:a="http://schemas.openxmlformats.org/drawingml/2006/main" id="105" idx="0"/>
          </p:cNvCxnSpPr>
          <p:nvPr/>
        </p:nvCxnSpPr>
        <p:spPr>
          <a:xfrm xmlns:a="http://schemas.openxmlformats.org/drawingml/2006/main">
            <a:off x="6215063" y="2981325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46475"/>
            </a:solidFill>
            <a:tailEnd type="triangle" w="sm" len="sm"/>
          </a:ln>
        </p:spPr>
      </p:cxn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C9715DC-D208-49B2-8B53-4DE945B8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4325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02FDD08-7654-40D4-8E04-DD29FA7B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638550"/>
            <a:ext cx="190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F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제목만 확인됨</a:t>
            </a:r>
          </a:p>
          <a:p xmlns:a="http://schemas.openxmlformats.org/drawingml/2006/main">
            <a:pPr algn="ctr">
              <a:def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원문 확인 안내</a:t>
            </a:r>
          </a:p>
        </p:txBody>
      </p:sp>
      <p:cxnSp>
        <p:nvCxnSpPr>
          <p:cNvPr id="134" name=""/>
          <p:cNvCxnSpPr>
            <a:stCxn xmlns:a="http://schemas.openxmlformats.org/drawingml/2006/main" id="105" idx="1"/>
            <a:endCxn xmlns:a="http://schemas.openxmlformats.org/drawingml/2006/main" id="108" idx="3"/>
          </p:cNvCxnSpPr>
          <p:nvPr/>
        </p:nvCxnSpPr>
        <p:spPr>
          <a:xfrm xmlns:a="http://schemas.openxmlformats.org/drawingml/2006/main" flipH="1">
            <a:off x="4429125" y="3886200"/>
            <a:ext cx="619125" cy="285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546475"/>
            </a:solidFill>
            <a:tailEnd type="triangle" w="sm" len="sm"/>
          </a:ln>
        </p:spPr>
      </p:cxn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7FF907F-798E-49B7-9545-AF550694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1475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아니오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53996256-E98A-49F6-90CE-886BCA9D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638550"/>
            <a:ext cx="133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C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근거 기반</a:t>
            </a:r>
          </a:p>
          <a:p xmlns:a="http://schemas.openxmlformats.org/drawingml/2006/main">
            <a:pPr algn="ctr">
              <a:def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답변 생성</a:t>
            </a:r>
          </a:p>
        </p:txBody>
      </p:sp>
      <p:cxnSp>
        <p:nvCxnSpPr>
          <p:cNvPr id="137" name=""/>
          <p:cNvCxnSpPr>
            <a:stCxn xmlns:a="http://schemas.openxmlformats.org/drawingml/2006/main" id="105" idx="3"/>
            <a:endCxn xmlns:a="http://schemas.openxmlformats.org/drawingml/2006/main" id="111" idx="1"/>
          </p:cNvCxnSpPr>
          <p:nvPr/>
        </p:nvCxnSpPr>
        <p:spPr>
          <a:xfrm xmlns:a="http://schemas.openxmlformats.org/drawingml/2006/main">
            <a:off x="7381875" y="3886200"/>
            <a:ext cx="95250" cy="285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546475"/>
            </a:solidFill>
            <a:tailEnd type="triangle" w="sm" len="sm"/>
          </a:ln>
        </p:spPr>
      </p:cxn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E5A933B-BEE7-40A4-9399-C6482356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4956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05CBCD5-AC2F-4DE2-B3BA-914759BF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43425"/>
            <a:ext cx="847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※ 검색 결과는 문서 일부입니다. 근거에 없는 대상·일정·조건은 임의로 보완하지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2341103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7" name="Google Shape;97;p5">
            <a:extLst xmlns:a="http://schemas.openxmlformats.org/drawingml/2006/main">
              <a:ext uri="{FF2B5EF4-FFF2-40B4-BE49-F238E27FC236}">
                <a16:creationId xmlns:a16="http://schemas.microsoft.com/office/drawing/2014/main" id="{B427C5D5-433B-441B-A811-04FEBC28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57150"/>
            <a:ext cx="657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058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algun Gothic"/>
              <a:buNone/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CampusRAG 기능흐름도 · 결과 확인과 예외</a:t>
            </a:r>
            <a:endParaRPr sz="1700" b="1">
              <a:solidFill>
                <a:schemeClr val="lt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98" name="Google Shape;98;p5">
            <a:extLst xmlns:a="http://schemas.openxmlformats.org/drawingml/2006/main">
              <a:ext uri="{FF2B5EF4-FFF2-40B4-BE49-F238E27FC236}">
                <a16:creationId xmlns:a16="http://schemas.microsoft.com/office/drawing/2014/main" id="{1C01192C-DFEC-4A74-BBD2-1D8DC4CD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715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455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35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저학년의 반란</a:t>
            </a:r>
            <a:endParaRPr sz="1700">
              <a:solidFill>
                <a:schemeClr val="lt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C28CAD8-8A41-40FE-BAA8-A2AA6340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23875"/>
            <a:ext cx="847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응답 상태에 따라 안내를 구분하고, 사용자가 다음 행동을 선택합니다.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17808DA-1B78-4932-9B9B-E6A7D493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E5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정상 답변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0A58C7E-7F15-4679-B812-6D6FD245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143000"/>
            <a:ext cx="257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C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요약 답변 + 출처 카드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B420E23-9336-4278-9AA7-77F06164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143000"/>
            <a:ext cx="2714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C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공식 원문에서 세부 조건 확인</a:t>
            </a:r>
          </a:p>
        </p:txBody>
      </p:sp>
      <p:cxnSp>
        <p:nvCxnSpPr>
          <p:cNvPr id="127" name=""/>
          <p:cNvCxnSpPr>
            <a:stCxn xmlns:a="http://schemas.openxmlformats.org/drawingml/2006/main" id="100" idx="3"/>
            <a:endCxn xmlns:a="http://schemas.openxmlformats.org/drawingml/2006/main" id="101" idx="1"/>
          </p:cNvCxnSpPr>
          <p:nvPr/>
        </p:nvCxnSpPr>
        <p:spPr>
          <a:xfrm xmlns:a="http://schemas.openxmlformats.org/drawingml/2006/main">
            <a:off x="2381250" y="14097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46475"/>
            </a:solidFill>
            <a:tailEnd type="triangle" w="sm" len="sm"/>
          </a:ln>
        </p:spPr>
      </p:cxnSp>
      <p:cxnSp>
        <p:nvCxnSpPr>
          <p:cNvPr id="128" name=""/>
          <p:cNvCxnSpPr>
            <a:stCxn xmlns:a="http://schemas.openxmlformats.org/drawingml/2006/main" id="101" idx="3"/>
            <a:endCxn xmlns:a="http://schemas.openxmlformats.org/drawingml/2006/main" id="102" idx="1"/>
          </p:cNvCxnSpPr>
          <p:nvPr/>
        </p:nvCxnSpPr>
        <p:spPr>
          <a:xfrm xmlns:a="http://schemas.openxmlformats.org/drawingml/2006/main">
            <a:off x="5476875" y="14097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46475"/>
            </a:solidFill>
            <a:tailEnd type="triangle" w="sm" len="sm"/>
          </a:ln>
        </p:spPr>
      </p:cxn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A7424A5-3681-4D55-859E-F6F0E000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4310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F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근거 부족 / 범위 밖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A0D6868-739E-48AC-9D4B-FCB60327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943100"/>
            <a:ext cx="257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C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정보 부족 또는 학내 질문 안내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64020F5-1F47-40C4-907C-BB63A540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43100"/>
            <a:ext cx="2714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C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연도·학기·주제를 보완해 질문</a:t>
            </a:r>
          </a:p>
        </p:txBody>
      </p:sp>
      <p:cxnSp>
        <p:nvCxnSpPr>
          <p:cNvPr id="132" name=""/>
          <p:cNvCxnSpPr>
            <a:stCxn xmlns:a="http://schemas.openxmlformats.org/drawingml/2006/main" id="105" idx="3"/>
            <a:endCxn xmlns:a="http://schemas.openxmlformats.org/drawingml/2006/main" id="106" idx="1"/>
          </p:cNvCxnSpPr>
          <p:nvPr/>
        </p:nvCxnSpPr>
        <p:spPr>
          <a:xfrm xmlns:a="http://schemas.openxmlformats.org/drawingml/2006/main">
            <a:off x="2381250" y="22098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46475"/>
            </a:solidFill>
            <a:tailEnd type="triangle" w="sm" len="sm"/>
          </a:ln>
        </p:spPr>
      </p:cxnSp>
      <p:cxnSp>
        <p:nvCxnSpPr>
          <p:cNvPr id="133" name=""/>
          <p:cNvCxnSpPr>
            <a:stCxn xmlns:a="http://schemas.openxmlformats.org/drawingml/2006/main" id="106" idx="3"/>
            <a:endCxn xmlns:a="http://schemas.openxmlformats.org/drawingml/2006/main" id="107" idx="1"/>
          </p:cNvCxnSpPr>
          <p:nvPr/>
        </p:nvCxnSpPr>
        <p:spPr>
          <a:xfrm xmlns:a="http://schemas.openxmlformats.org/drawingml/2006/main">
            <a:off x="5476875" y="22098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46475"/>
            </a:solidFill>
            <a:tailEnd type="triangle" w="sm" len="sm"/>
          </a:ln>
        </p:spPr>
      </p:cxn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43E6ED7-1F54-4C04-B64B-1709DE7B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74320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F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제목만 확인됨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4D19FDC4-62A4-4F28-9861-EAB652EC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743200"/>
            <a:ext cx="257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C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상세 내용 유보 + 원문 안내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FF45893-B986-42AF-BF3A-F7CDFC21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43200"/>
            <a:ext cx="2714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C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공지 본문·첨부파일 직접 확인</a:t>
            </a:r>
          </a:p>
        </p:txBody>
      </p:sp>
      <p:cxnSp>
        <p:nvCxnSpPr>
          <p:cNvPr id="137" name=""/>
          <p:cNvCxnSpPr>
            <a:stCxn xmlns:a="http://schemas.openxmlformats.org/drawingml/2006/main" id="110" idx="3"/>
            <a:endCxn xmlns:a="http://schemas.openxmlformats.org/drawingml/2006/main" id="111" idx="1"/>
          </p:cNvCxnSpPr>
          <p:nvPr/>
        </p:nvCxnSpPr>
        <p:spPr>
          <a:xfrm xmlns:a="http://schemas.openxmlformats.org/drawingml/2006/main">
            <a:off x="2381250" y="30099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46475"/>
            </a:solidFill>
            <a:tailEnd type="triangle" w="sm" len="sm"/>
          </a:ln>
        </p:spPr>
      </p:cxnSp>
      <p:cxnSp>
        <p:nvCxnSpPr>
          <p:cNvPr id="138" name=""/>
          <p:cNvCxnSpPr>
            <a:stCxn xmlns:a="http://schemas.openxmlformats.org/drawingml/2006/main" id="111" idx="3"/>
            <a:endCxn xmlns:a="http://schemas.openxmlformats.org/drawingml/2006/main" id="112" idx="1"/>
          </p:cNvCxnSpPr>
          <p:nvPr/>
        </p:nvCxnSpPr>
        <p:spPr>
          <a:xfrm xmlns:a="http://schemas.openxmlformats.org/drawingml/2006/main">
            <a:off x="5476875" y="30099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46475"/>
            </a:solidFill>
            <a:tailEnd type="triangle" w="sm" len="sm"/>
          </a:ln>
        </p:spPr>
      </p:cxn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F63EAF9-7C46-4D64-834F-96E749EF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54330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F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API / 통신 오류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2805679-49F7-46E8-A960-CE056A3B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543300"/>
            <a:ext cx="257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C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안전한 오류 안내 표시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F65E840-96F5-4C4A-9655-6CB023AC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2714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C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잠시 후 질문을 다시 전송</a:t>
            </a:r>
          </a:p>
        </p:txBody>
      </p:sp>
      <p:cxnSp>
        <p:nvCxnSpPr>
          <p:cNvPr id="142" name=""/>
          <p:cNvCxnSpPr>
            <a:stCxn xmlns:a="http://schemas.openxmlformats.org/drawingml/2006/main" id="115" idx="3"/>
            <a:endCxn xmlns:a="http://schemas.openxmlformats.org/drawingml/2006/main" id="116" idx="1"/>
          </p:cNvCxnSpPr>
          <p:nvPr/>
        </p:nvCxnSpPr>
        <p:spPr>
          <a:xfrm xmlns:a="http://schemas.openxmlformats.org/drawingml/2006/main">
            <a:off x="2381250" y="38100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46475"/>
            </a:solidFill>
            <a:tailEnd type="triangle" w="sm" len="sm"/>
          </a:ln>
        </p:spPr>
      </p:cxnSp>
      <p:cxnSp>
        <p:nvCxnSpPr>
          <p:cNvPr id="143" name=""/>
          <p:cNvCxnSpPr>
            <a:stCxn xmlns:a="http://schemas.openxmlformats.org/drawingml/2006/main" id="116" idx="3"/>
            <a:endCxn xmlns:a="http://schemas.openxmlformats.org/drawingml/2006/main" id="117" idx="1"/>
          </p:cNvCxnSpPr>
          <p:nvPr/>
        </p:nvCxnSpPr>
        <p:spPr>
          <a:xfrm xmlns:a="http://schemas.openxmlformats.org/drawingml/2006/main">
            <a:off x="5476875" y="38100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46475"/>
            </a:solidFill>
            <a:tailEnd type="triangle" w="sm" len="sm"/>
          </a:ln>
        </p:spPr>
      </p:cxn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53BBDEF-A0F8-482D-83F9-21910FB36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62475"/>
            <a:ext cx="847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출처 카드: 공지 제목 · 게시일 · 출처 · 공식 원문 링크  |  추가 질문은 새 요청으로 처리</a:t>
            </a:r>
          </a:p>
        </p:txBody>
      </p:sp>
    </p:spTree>
    <p:extLst>
      <p:ext uri="{BB962C8B-B14F-4D97-AF65-F5344CB8AC3E}">
        <p14:creationId xmlns:p14="http://schemas.microsoft.com/office/powerpoint/2010/main" val="1519660362"/>
      </p:ext>
    </p:extLst>
  </p:cSld>
</p:sld>
</file>

<file path=ppt/theme/theme1.xml><?xml version="1.0" encoding="utf-8"?>
<a:theme xmlns:a="http://schemas.openxmlformats.org/drawingml/2006/main" name="Office 테마">
  <a:themeElements>
    <a:clrScheme name="사용자 지정 48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53F95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사용자 지정 48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2026-09-27T08:03:11.4830000Z</dcterms:created>
  <dcterms:modified xsi:type="dcterms:W3CDTF">2026-09-27T08:03:11.4830000Z</dcterms:modified>
</coreProperties>
</file>