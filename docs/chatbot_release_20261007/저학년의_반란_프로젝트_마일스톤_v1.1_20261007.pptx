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d18b0cd3df450e" /><Relationship Type="http://schemas.openxmlformats.org/officeDocument/2006/relationships/extended-properties" Target="/docProps/app.xml" Id="R0e85678ee9384c3f" /><Relationship Type="http://schemas.openxmlformats.org/officeDocument/2006/relationships/officeDocument" Target="/ppt/presentation.xml" Id="Rab820c3b0bc242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4bf2567c294b70"/>
  </p:sldMasterIdLst>
  <p:notesMasterIdLst>
    <p:notesMasterId xmlns:r="http://schemas.openxmlformats.org/officeDocument/2006/relationships" r:id="R7f04d373a1e140b2"/>
  </p:notesMasterIdLst>
  <p:sldIdLst>
    <p:sldId xmlns:r="http://schemas.openxmlformats.org/officeDocument/2006/relationships" id="256" r:id="Rf1995d3c43bc4fa9"/>
    <p:sldId xmlns:r="http://schemas.openxmlformats.org/officeDocument/2006/relationships" id="257" r:id="R5b0582cd0dcc464e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66A8077F-D876-4FD2-8D97-C0EC8139406F}">
  <a:tblStyle styleId="{66A8077F-D876-4FD2-8D97-C0EC8139406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714075e69745fe" /><Relationship Type="http://schemas.openxmlformats.org/officeDocument/2006/relationships/slideMaster" Target="/ppt/slideMasters/slideMaster1.xml" Id="R784bf2567c294b70" /><Relationship Type="http://schemas.openxmlformats.org/officeDocument/2006/relationships/notesMaster" Target="/ppt/notesMasters/notesMaster1.xml" Id="R7f04d373a1e140b2" /><Relationship Type="http://schemas.openxmlformats.org/officeDocument/2006/relationships/presProps" Target="/ppt/presProps.xml" Id="R1a29a88de594403d" /><Relationship Type="http://schemas.openxmlformats.org/officeDocument/2006/relationships/viewProps" Target="/ppt/viewProps.xml" Id="Rbf79d5cd6cee4178" /><Relationship Type="http://schemas.openxmlformats.org/officeDocument/2006/relationships/tableStyles" Target="/ppt/tableStyles.xml" Id="Rb019e037b4a147ba" /><Relationship Type="http://schemas.openxmlformats.org/officeDocument/2006/relationships/slide" Target="/ppt/slides/slide1.xml" Id="Rf1995d3c43bc4fa9" /><Relationship Type="http://schemas.openxmlformats.org/officeDocument/2006/relationships/slide" Target="/ppt/slides/slide2.xml" Id="R5b0582cd0dcc46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706a1b752349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사용자 지정 48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53F95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사용자 지정 4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1c9f1d697844b0" /><Relationship Type="http://schemas.openxmlformats.org/officeDocument/2006/relationships/notesMaster" Target="/ppt/notesMasters/notesMaster1.xml" Id="Ra3056dcaad164d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74858e90bc4a6f" /><Relationship Type="http://schemas.openxmlformats.org/officeDocument/2006/relationships/notesMaster" Target="/ppt/notesMasters/notesMaster1.xml" Id="R41873c9039fd4a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원본 마일스톤의 15주차·스프린트 구조는 참고만 했습니다. 개정본은 현재 구현과 P0/P1/P2 우선순위 및 완료조건을 표시하며 새로운 확정 완료 날짜를 만들지 않았습니다.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원본: /Users/jwlee/study1/aisw/팀명_프로젝트 마일스톤_(vx.xx)_yyyymmdd.pptx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현재 근거: /Users/jwlee/study1/aisw/docs/codex_chatbot_separation_report_20260927.md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데이터: /Users/jwlee/study1/aisw/data/unified_manifest.json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평가: /Users/jwlee/study1/aisw/docs/campusrag_evaluation_baseline.md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배포: /Users/jwlee/study1/aisw/docs/campusrag_local_container_guide.md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65 통과는 10월 7일 선별 오프라인 검사. 실제 답변 품질·배포·학생 UT 미완료.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원본 마일스톤의 15주차·스프린트 구조는 참고만 했습니다. 개정본은 현재 구현과 P0/P1/P2 우선순위 및 완료조건을 표시하며 새로운 확정 완료 날짜를 만들지 않았습니다.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원본: /Users/jwlee/study1/aisw/팀명_프로젝트 마일스톤_(vx.xx)_yyyymmdd.pptx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현재 근거: /Users/jwlee/study1/aisw/docs/codex_chatbot_separation_report_20260927.md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데이터: /Users/jwlee/study1/aisw/data/unified_manifest.json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평가: /Users/jwlee/study1/aisw/docs/campusrag_evaluation_baseline.md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배포: /Users/jwlee/study1/aisw/docs/campusrag_local_container_guide.md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65 통과는 10월 7일 선별 오프라인 검사. 실제 답변 품질·배포·학생 UT 미완료.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f9a39169a34e36" /><Relationship Type="http://schemas.openxmlformats.org/officeDocument/2006/relationships/image" Target="/ppt/media/image2.png" Id="R888775f04ea243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08800271848cc" /><Relationship Type="http://schemas.openxmlformats.org/officeDocument/2006/relationships/image" Target="/ppt/media/image2.png" Id="R1db06eb8720b4089" /></Relationships>
</file>

<file path=ppt/slideLayouts/slideLayout1.xml><?xml version="1.0" encoding="utf-8"?>
<p:sldLayout xmlns:p="http://schemas.openxmlformats.org/presentationml/2006/main" matchingName="7_본문_1">
  <p:cSld name="7_본문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4">
            <a:extLst xmlns:a="http://schemas.openxmlformats.org/drawingml/2006/main">
              <a:ext uri="{FF2B5EF4-FFF2-40B4-BE49-F238E27FC236}">
                <a16:creationId xmlns:a16="http://schemas.microsoft.com/office/drawing/2014/main" id="{07B64FC3-01DE-4D95-A877-0F6B89D4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304" y="4876015"/>
            <a:ext cx="487392" cy="2092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- </a:t>
            </a:r>
            <a:fld id="{00000000-1234-1234-1234-123412341234}" type="slidenum"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‹#›</a:t>
            </a:fld>
            <a:r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 -</a:t>
            </a:r>
            <a:endParaRPr/>
          </a:p>
        </p:txBody>
      </p:sp>
      <p:pic>
        <p:nvPicPr>
          <p:cNvPr id="20" name="Google Shape;16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8775f04ea2430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" y="4876009"/>
            <a:ext cx="648060" cy="2575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796E7822-B958-44C7-A48F-A4C13497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"/>
            <a:ext cx="9144000" cy="411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2F6F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1_본문_2">
  <p:cSld name="1_본문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 Shape;19;p5">
            <a:extLst xmlns:a="http://schemas.openxmlformats.org/drawingml/2006/main">
              <a:ext uri="{FF2B5EF4-FFF2-40B4-BE49-F238E27FC236}">
                <a16:creationId xmlns:a16="http://schemas.microsoft.com/office/drawing/2014/main" id="{603CB6F6-F098-4DF8-872E-92603DE6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304" y="4876015"/>
            <a:ext cx="487392" cy="2092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- </a:t>
            </a:r>
            <a:fld id="{00000000-1234-1234-1234-123412341234}" type="slidenum"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‹#›</a:t>
            </a:fld>
            <a:r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 -</a:t>
            </a:r>
            <a:endParaRPr/>
          </a:p>
        </p:txBody>
      </p:sp>
      <p:pic>
        <p:nvPicPr>
          <p:cNvPr id="22" name="Google Shape;20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b06eb8720b408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" y="4876009"/>
            <a:ext cx="648060" cy="2575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4d7725d20d743f4" /><Relationship Type="http://schemas.openxmlformats.org/officeDocument/2006/relationships/theme" Target="/ppt/slideMasters/theme/theme2.xml" Id="Re6fbc6ab5ef149ce" /><Relationship Type="http://schemas.openxmlformats.org/officeDocument/2006/relationships/slideLayout" Target="/ppt/slideLayouts/slideLayout1.xml" Id="R34d0f019b6a74b5c" /><Relationship Type="http://schemas.openxmlformats.org/officeDocument/2006/relationships/slideLayout" Target="/ppt/slideLayouts/slideLayout2.xml" Id="Rb6b100b9d555441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3">
            <a:extLst xmlns:a="http://schemas.openxmlformats.org/drawingml/2006/main">
              <a:ext uri="{FF2B5EF4-FFF2-40B4-BE49-F238E27FC236}">
                <a16:creationId xmlns:a16="http://schemas.microsoft.com/office/drawing/2014/main" id="{C9D87802-0198-4701-81B4-4CCC3C85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139" y="4926837"/>
            <a:ext cx="437735" cy="101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000" b="0" i="0" u="non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‹#›</a:t>
            </a:fld>
            <a:endParaRPr sz="1000" b="0" i="0" u="none" cap="none">
              <a:solidFill>
                <a:srgbClr val="3F3F3F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4" name="Google Shape;12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d7725d20d743f4">
            <a:alphaModFix/>
          </a:blip>
          <a:srcRect xmlns:a="http://schemas.openxmlformats.org/drawingml/2006/main" l="0" t="76605" r="0" b="0"/>
          <a:stretch xmlns:a="http://schemas.openxmlformats.org/drawingml/2006/main"/>
        </p:blipFill>
        <p:spPr>
          <a:xfrm xmlns:a="http://schemas.openxmlformats.org/drawingml/2006/main" rot="-5400000" flipH="0" flipV="0">
            <a:off x="4642959" y="4957779"/>
            <a:ext cx="261948" cy="3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" name="Google Shape;13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d7725d20d743f4">
            <a:alphaModFix/>
          </a:blip>
          <a:srcRect xmlns:a="http://schemas.openxmlformats.org/drawingml/2006/main" l="0" t="76605" r="0" b="0"/>
          <a:stretch xmlns:a="http://schemas.openxmlformats.org/drawingml/2006/main"/>
        </p:blipFill>
        <p:spPr>
          <a:xfrm xmlns:a="http://schemas.openxmlformats.org/drawingml/2006/main" rot="5400000" flipH="1" flipV="0">
            <a:off x="4239099" y="4957779"/>
            <a:ext cx="261948" cy="3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d0f019b6a74b5c"/>
    <p:sldLayoutId xmlns:r="http://schemas.openxmlformats.org/officeDocument/2006/relationships" id="2147483650" r:id="Rb6b100b9d555441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xmlns:a="http://schemas.openxmlformats.org/drawingml/2006/main" val="F26B43"/>
          </p15:clr>
        </p15:guide>
        <p15:guide id="2" pos="288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테마">
  <a:themeElements>
    <a:clrScheme name="사용자 지정 48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53F95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사용자 지정 4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dd28fe9384696" /><Relationship Type="http://schemas.openxmlformats.org/officeDocument/2006/relationships/notesSlide" Target="/ppt/notesSlides/notesSlide1.xml" Id="R7abbb1338fb04b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aae6a915144dd" /><Relationship Type="http://schemas.openxmlformats.org/officeDocument/2006/relationships/notesSlide" Target="/ppt/notesSlides/notesSlide2.xml" Id="Rd8bc8a65d10d4e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39B5819-8BB5-49AE-9EC1-56E173DF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76200"/>
            <a:ext cx="552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CampusRAG 프로젝트 마일스톤</a:t>
            </a:r>
          </a:p>
        </p:txBody>
      </p:sp>
      <p:sp>
        <p:nvSpPr>
          <p:cNvPr id="2" name="header-right">
            <a:extLst xmlns:a="http://schemas.openxmlformats.org/drawingml/2006/main">
              <a:ext uri="{FF2B5EF4-FFF2-40B4-BE49-F238E27FC236}">
                <a16:creationId xmlns:a16="http://schemas.microsoft.com/office/drawing/2014/main" id="{9D18CEF8-02DD-476B-890E-52C9F853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9525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저학년의 반란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19B9A11-737D-4FB2-A240-324EF662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71500"/>
            <a:ext cx="864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현재 코어 구현 이후 챗봇 출시 과제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247650" y="1104900"/>
          <a:ext xmlns:a="http://schemas.openxmlformats.org/drawingml/2006/main" cx="86487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09650"/>
                <a:gridCol w="3257550"/>
                <a:gridCol w="1638300"/>
                <a:gridCol w="2743200"/>
              </a:tblGrid>
              <a:tr h="342900"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solidFill>
                      <a:srgbClr val="355C8C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주요 작업</a:t>
                      </a:r>
                    </a:p>
                  </a:txBody>
                  <a:tcPr marL="91440" marR="91440" marT="45720" marB="45720" anchor="ctr">
                    <a:solidFill>
                      <a:srgbClr val="355C8C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현재 상태</a:t>
                      </a:r>
                    </a:p>
                  </a:txBody>
                  <a:tcPr marL="91440" marR="91440" marT="45720" marB="45720" anchor="ctr">
                    <a:solidFill>
                      <a:srgbClr val="355C8C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완료 조건</a:t>
                      </a:r>
                    </a:p>
                  </a:txBody>
                  <a:tcPr marL="91440" marR="91440" marT="45720" marB="45720" anchor="ctr">
                    <a:solidFill>
                      <a:srgbClr val="355C8C"/>
                    </a:solidFill>
                  </a:tcPr>
                </a:tc>
              </a:tr>
              <a:tr h="685800"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현재 코어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익명 질문, 근거 검색, 요약과 공식 출처</a:t>
                      </a:r>
                    </a:p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React + FastAPI + Chroma + Gemini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구현 완료</a:t>
                      </a:r>
                    </a:p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실답변 품질 미검증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1,366문서 / 3,447청크</a:t>
                      </a:r>
                    </a:p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오프라인 선별 65 통과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</a:tr>
              <a:tr h="685800"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산출물 통일(완료), 데이터 갱신</a:t>
                      </a:r>
                    </a:p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30~50문항 실제 답변 평가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문서 통일 완료</a:t>
                      </a:r>
                    </a:p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갱신·평가 우선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최신 통합 데이터 반영</a:t>
                      </a:r>
                    </a:p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근거 지지율 90% 목표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P1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요청·오류 처리 안정화</a:t>
                      </a:r>
                    </a:p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배포 검증과 학생 UT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후속 작업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실환경 자원·지연 측정</a:t>
                      </a:r>
                    </a:p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UT 10명 이상, 만족 4/5 목표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</a:tr>
              <a:tr h="685800"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P2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검색 결합, 표 청크 개선</a:t>
                      </a:r>
                    </a:p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스트리밍·캐시 비교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검증 후 선택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MVP 대비 개선 실측</a:t>
                      </a:r>
                    </a:p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운영 비용·복잡성 비교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lease-note">
            <a:extLst xmlns:a="http://schemas.openxmlformats.org/drawingml/2006/main">
              <a:ext uri="{FF2B5EF4-FFF2-40B4-BE49-F238E27FC236}">
                <a16:creationId xmlns:a16="http://schemas.microsoft.com/office/drawing/2014/main" id="{42D8B321-814F-4C95-A66B-F2293E01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343400"/>
            <a:ext cx="864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4748B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64748B"/>
                </a:solidFill>
                <a:latin typeface="Nanum Gothic"/>
                <a:ea typeface="Nanum Gothic"/>
                <a:cs typeface="Nanum Gothic"/>
              </a:rPr>
              <a:t>작성 기준 2026.10.07   새 확정 일정은 팀과 학교 일정 확인 후 배정</a:t>
            </a:r>
          </a:p>
        </p:txBody>
      </p:sp>
      <p:sp>
        <p:nvSpPr>
          <p:cNvPr id="6" name="scope-note">
            <a:extLst xmlns:a="http://schemas.openxmlformats.org/drawingml/2006/main">
              <a:ext uri="{FF2B5EF4-FFF2-40B4-BE49-F238E27FC236}">
                <a16:creationId xmlns:a16="http://schemas.microsoft.com/office/drawing/2014/main" id="{714DC4B2-5891-4FFF-9437-466F867F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629150"/>
            <a:ext cx="864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4748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64748B"/>
                </a:solidFill>
                <a:latin typeface="Nanum Gothic"/>
                <a:ea typeface="Nanum Gothic"/>
                <a:cs typeface="Nanum Gothic"/>
              </a:rPr>
              <a:t>로그인·개인 일정·캘린더·알림 제외. 기존 15주차 계획은 구조 참고 자료로 보존</a:t>
            </a:r>
          </a:p>
        </p:txBody>
      </p:sp>
    </p:spTree>
    <p:extLst>
      <p:ext uri="{BB962C8B-B14F-4D97-AF65-F5344CB8AC3E}">
        <p14:creationId xmlns:p14="http://schemas.microsoft.com/office/powerpoint/2010/main" val="12194804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C12D26B-41A1-46D6-8CE9-4CDE2DBC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76200"/>
            <a:ext cx="552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CampusRAG 영역별 작업</a:t>
            </a:r>
          </a:p>
        </p:txBody>
      </p:sp>
      <p:sp>
        <p:nvSpPr>
          <p:cNvPr id="2" name="header-right">
            <a:extLst xmlns:a="http://schemas.openxmlformats.org/drawingml/2006/main">
              <a:ext uri="{FF2B5EF4-FFF2-40B4-BE49-F238E27FC236}">
                <a16:creationId xmlns:a16="http://schemas.microsoft.com/office/drawing/2014/main" id="{646D97F5-8CEF-483A-85FD-B281CBE2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9525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저학년의 반란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F592132-412E-408F-8EDD-5243AC5D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71500"/>
            <a:ext cx="864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단계별 작업과 완료 근거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247650" y="1104900"/>
          <a:ext xmlns:a="http://schemas.openxmlformats.org/drawingml/2006/main" cx="86487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0150"/>
                <a:gridCol w="2857500"/>
                <a:gridCol w="2762250"/>
                <a:gridCol w="1828800"/>
              </a:tblGrid>
              <a:tr h="342900"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영역</a:t>
                      </a:r>
                    </a:p>
                  </a:txBody>
                  <a:tcPr marL="91440" marR="91440" marT="45720" marB="45720" anchor="ctr">
                    <a:solidFill>
                      <a:srgbClr val="355C8C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P0 우선 작업</a:t>
                      </a:r>
                    </a:p>
                  </a:txBody>
                  <a:tcPr marL="91440" marR="91440" marT="45720" marB="45720" anchor="ctr">
                    <a:solidFill>
                      <a:srgbClr val="355C8C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P1 후속 작업</a:t>
                      </a:r>
                    </a:p>
                  </a:txBody>
                  <a:tcPr marL="91440" marR="91440" marT="45720" marB="45720" anchor="ctr">
                    <a:solidFill>
                      <a:srgbClr val="355C8C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검증 근거</a:t>
                      </a:r>
                    </a:p>
                  </a:txBody>
                  <a:tcPr marL="91440" marR="91440" marT="45720" marB="45720" anchor="ctr">
                    <a:solidFill>
                      <a:srgbClr val="355C8C"/>
                    </a:solidFill>
                  </a:tcPr>
                </a:tc>
              </a:tr>
              <a:tr h="548640"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공통 / 기획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PRD·WBS·PPT 범위 통일(완료)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출시 기준·운영 예산 확정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완료·목표·보류 구분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데이터 / RAG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9/15 이후 자료 갱신</a:t>
                      </a:r>
                    </a:p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기간·예외·충돌 질문 평가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검색 누락과 오답 회귀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버전·해시·출처 기록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UI / F/E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익명 독립 질문과 출처 흐름 점검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학생 UT와 모바일 실패 안내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UT 10명 이상</a:t>
                      </a:r>
                    </a:p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만족도 4/5 목표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B/E /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현재 생성 제공자·모델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요청 제한·로그·오류·지연 측정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정상·유보·API 오류 분리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1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배포 / 운영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챗봇 이미지 재빌드 준비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Cloudtype 후보 자원 검증</a:t>
                      </a:r>
                    </a:p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HTTPS 질의·재시작 확인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lIns="85725" tIns="47625" rIns="85725" bIns="47625">
                      <a:noAutofit/>
                    </a:bodyPr>
                    <a:lstStyle/>
                    <a:p>
                      <a:r>
                        <a:rPr sz="1313" b="0">
                          <a:solidFill>
                            <a:srgbClr val="0F172A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실배포와 최신 데이터 확인</a:t>
                      </a:r>
                    </a:p>
                  </a:txBody>
                  <a:tcPr marL="91440" marR="91440" marT="45720" marB="45720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5" name="release-note">
            <a:extLst xmlns:a="http://schemas.openxmlformats.org/drawingml/2006/main">
              <a:ext uri="{FF2B5EF4-FFF2-40B4-BE49-F238E27FC236}">
                <a16:creationId xmlns:a16="http://schemas.microsoft.com/office/drawing/2014/main" id="{1039D424-33A5-4BCD-82F5-20DFA9A6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343400"/>
            <a:ext cx="864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4748B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64748B"/>
                </a:solidFill>
                <a:latin typeface="Nanum Gothic"/>
                <a:ea typeface="Nanum Gothic"/>
                <a:cs typeface="Nanum Gothic"/>
              </a:rPr>
              <a:t>작성 기준 2026.10.07   새 확정 일정은 팀과 학교 일정 확인 후 배정</a:t>
            </a:r>
          </a:p>
        </p:txBody>
      </p:sp>
      <p:sp>
        <p:nvSpPr>
          <p:cNvPr id="6" name="scope-note">
            <a:extLst xmlns:a="http://schemas.openxmlformats.org/drawingml/2006/main">
              <a:ext uri="{FF2B5EF4-FFF2-40B4-BE49-F238E27FC236}">
                <a16:creationId xmlns:a16="http://schemas.microsoft.com/office/drawing/2014/main" id="{C2982229-1E0F-45BE-A094-4EDABB4B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629150"/>
            <a:ext cx="864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4748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64748B"/>
                </a:solidFill>
                <a:latin typeface="Nanum Gothic"/>
                <a:ea typeface="Nanum Gothic"/>
                <a:cs typeface="Nanum Gothic"/>
              </a:rPr>
              <a:t>로그인·개인 일정·캘린더·알림 제외. 기존 15주차 계획은 구조 참고 자료로 보존</a:t>
            </a:r>
          </a:p>
        </p:txBody>
      </p:sp>
    </p:spTree>
    <p:extLst>
      <p:ext uri="{BB962C8B-B14F-4D97-AF65-F5344CB8AC3E}">
        <p14:creationId xmlns:p14="http://schemas.microsoft.com/office/powerpoint/2010/main" val="388282195"/>
      </p:ext>
    </p:extLst>
  </p:cSld>
</p:sld>
</file>

<file path=ppt/theme/theme1.xml><?xml version="1.0" encoding="utf-8"?>
<a:theme xmlns:a="http://schemas.openxmlformats.org/drawingml/2006/main" name="Office 테마">
  <a:themeElements>
    <a:clrScheme name="사용자 지정 48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53F95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사용자 지정 4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2026-10-07T08:15:32.9660000Z</dcterms:created>
  <dcterms:modified xsi:type="dcterms:W3CDTF">2026-10-07T08:15:32.9660000Z</dcterms:modified>
</coreProperties>
</file>