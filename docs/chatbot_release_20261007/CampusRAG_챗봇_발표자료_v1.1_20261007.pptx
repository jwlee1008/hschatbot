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a9660958442c8" /><Relationship Type="http://schemas.openxmlformats.org/officeDocument/2006/relationships/extended-properties" Target="/docProps/app.xml" Id="Rb10651ed2fe4437b" /><Relationship Type="http://schemas.openxmlformats.org/officeDocument/2006/relationships/officeDocument" Target="/ppt/presentation.xml" Id="R4e378ac17281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73dbf602049d4"/>
  </p:sldMasterIdLst>
  <p:notesMasterIdLst>
    <p:notesMasterId xmlns:r="http://schemas.openxmlformats.org/officeDocument/2006/relationships" r:id="Rf21f268c7a1a4e4e"/>
  </p:notesMasterIdLst>
  <p:sldIdLst>
    <p:sldId xmlns:r="http://schemas.openxmlformats.org/officeDocument/2006/relationships" id="256" r:id="R5112f6f673404bd1"/>
    <p:sldId xmlns:r="http://schemas.openxmlformats.org/officeDocument/2006/relationships" id="257" r:id="R11802e012e5147f8"/>
    <p:sldId xmlns:r="http://schemas.openxmlformats.org/officeDocument/2006/relationships" id="258" r:id="R6a536a6be2c1485f"/>
    <p:sldId xmlns:r="http://schemas.openxmlformats.org/officeDocument/2006/relationships" id="259" r:id="R6551c611d4524c46"/>
    <p:sldId xmlns:r="http://schemas.openxmlformats.org/officeDocument/2006/relationships" id="260" r:id="Rbcd1deecc9914304"/>
    <p:sldId xmlns:r="http://schemas.openxmlformats.org/officeDocument/2006/relationships" id="261" r:id="Rbf22225d69c344a7"/>
    <p:sldId xmlns:r="http://schemas.openxmlformats.org/officeDocument/2006/relationships" id="262" r:id="Rce4568d02a37483f"/>
    <p:sldId xmlns:r="http://schemas.openxmlformats.org/officeDocument/2006/relationships" id="263" r:id="R38480021b7884d43"/>
    <p:sldId xmlns:r="http://schemas.openxmlformats.org/officeDocument/2006/relationships" id="264" r:id="R16d40a1e922e466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a79de30074aa0" /><Relationship Type="http://schemas.openxmlformats.org/officeDocument/2006/relationships/slideMaster" Target="/ppt/slideMasters/slideMaster1.xml" Id="Rb4b73dbf602049d4" /><Relationship Type="http://schemas.openxmlformats.org/officeDocument/2006/relationships/notesMaster" Target="/ppt/notesMasters/notesMaster1.xml" Id="Rf21f268c7a1a4e4e" /><Relationship Type="http://schemas.openxmlformats.org/officeDocument/2006/relationships/presProps" Target="/ppt/presProps.xml" Id="R94c8d331713f4a12" /><Relationship Type="http://schemas.openxmlformats.org/officeDocument/2006/relationships/viewProps" Target="/ppt/viewProps.xml" Id="R7e06a531b61d44fd" /><Relationship Type="http://schemas.openxmlformats.org/officeDocument/2006/relationships/tableStyles" Target="/ppt/tableStyles.xml" Id="R1ae4586a1e3241b2" /><Relationship Type="http://schemas.openxmlformats.org/officeDocument/2006/relationships/slide" Target="/ppt/slides/slide1.xml" Id="R5112f6f673404bd1" /><Relationship Type="http://schemas.openxmlformats.org/officeDocument/2006/relationships/slide" Target="/ppt/slides/slide2.xml" Id="R11802e012e5147f8" /><Relationship Type="http://schemas.openxmlformats.org/officeDocument/2006/relationships/slide" Target="/ppt/slides/slide3.xml" Id="R6a536a6be2c1485f" /><Relationship Type="http://schemas.openxmlformats.org/officeDocument/2006/relationships/slide" Target="/ppt/slides/slide4.xml" Id="R6551c611d4524c46" /><Relationship Type="http://schemas.openxmlformats.org/officeDocument/2006/relationships/slide" Target="/ppt/slides/slide5.xml" Id="Rbcd1deecc9914304" /><Relationship Type="http://schemas.openxmlformats.org/officeDocument/2006/relationships/slide" Target="/ppt/slides/slide6.xml" Id="Rbf22225d69c344a7" /><Relationship Type="http://schemas.openxmlformats.org/officeDocument/2006/relationships/slide" Target="/ppt/slides/slide7.xml" Id="Rce4568d02a37483f" /><Relationship Type="http://schemas.openxmlformats.org/officeDocument/2006/relationships/slide" Target="/ppt/slides/slide8.xml" Id="R38480021b7884d43" /><Relationship Type="http://schemas.openxmlformats.org/officeDocument/2006/relationships/slide" Target="/ppt/slides/slide9.xml" Id="R16d40a1e922e46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c5b5d8bbb7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9cab929e2f48c7" /><Relationship Type="http://schemas.openxmlformats.org/officeDocument/2006/relationships/notesMaster" Target="/ppt/notesMasters/notesMaster1.xml" Id="Rbbb71bfc942d4f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19e4f5f7749c7" /><Relationship Type="http://schemas.openxmlformats.org/officeDocument/2006/relationships/notesMaster" Target="/ppt/notesMasters/notesMaster1.xml" Id="R436d3f030a23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bb1df10e24ee5" /><Relationship Type="http://schemas.openxmlformats.org/officeDocument/2006/relationships/notesMaster" Target="/ppt/notesMasters/notesMaster1.xml" Id="Rb0be9766647a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d1a74a1f94fc7" /><Relationship Type="http://schemas.openxmlformats.org/officeDocument/2006/relationships/notesMaster" Target="/ppt/notesMasters/notesMaster1.xml" Id="R88a8639ea16c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a6eff711fd4a86" /><Relationship Type="http://schemas.openxmlformats.org/officeDocument/2006/relationships/notesMaster" Target="/ppt/notesMasters/notesMaster1.xml" Id="Re584b71845f2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7d337d27f446d" /><Relationship Type="http://schemas.openxmlformats.org/officeDocument/2006/relationships/notesMaster" Target="/ppt/notesMasters/notesMaster1.xml" Id="Reef93b3ab0a449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4b13a90ae3436c" /><Relationship Type="http://schemas.openxmlformats.org/officeDocument/2006/relationships/notesMaster" Target="/ppt/notesMasters/notesMaster1.xml" Id="R22eaa8697415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3fcc85a524348" /><Relationship Type="http://schemas.openxmlformats.org/officeDocument/2006/relationships/notesMaster" Target="/ppt/notesMasters/notesMaster1.xml" Id="R35dab8aa189a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35a3a50cd4130" /><Relationship Type="http://schemas.openxmlformats.org/officeDocument/2006/relationships/notesMaster" Target="/ppt/notesMasters/notesMaster1.xml" Id="R758f21545da0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/Users/jwlee/study1/aisw/README.md</a:t>
            </a:r>
          </a:p>
          <a:p xmlns:a="http://schemas.openxmlformats.org/drawingml/2006/main">
            <a:r>
              <a:t>/Users/jwlee/study1/aisw/docs/campusrag_chatbot_scope_20260927.md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/Users/jwlee/study1/aisw/data/unified_manifest.json</a:t>
            </a:r>
          </a:p>
          <a:p xmlns:a="http://schemas.openxmlformats.org/drawingml/2006/main">
            <a:r>
              <a:t>/Users/jwlee/study1/aisw/docs/campusrag_chatbot_scope_20260927.md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/Users/jwlee/study1/aisw/config.py</a:t>
            </a:r>
          </a:p>
          <a:p xmlns:a="http://schemas.openxmlformats.org/drawingml/2006/main">
            <a:r>
              <a:t>/Users/jwlee/study1/aisw/backend/main.py</a:t>
            </a:r>
          </a:p>
          <a:p xmlns:a="http://schemas.openxmlformats.org/drawingml/2006/main">
            <a:r>
              <a:t>/Users/jwlee/study1/aisw/core/rag.py</a:t>
            </a:r>
          </a:p>
          <a:p xmlns:a="http://schemas.openxmlformats.org/drawingml/2006/main">
            <a:r>
              <a:t>/Users/jwlee/study1/aisw/frontend-web/src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/Users/jwlee/study1/aisw/core/extractor/pipeline.py</a:t>
            </a:r>
          </a:p>
          <a:p xmlns:a="http://schemas.openxmlformats.org/drawingml/2006/main">
            <a:r>
              <a:t>/Users/jwlee/study1/aisw/docs/collection_expansion_phase2.md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/Users/jwlee/study1/aisw/core/rag.py</a:t>
            </a:r>
          </a:p>
          <a:p xmlns:a="http://schemas.openxmlformats.org/drawingml/2006/main">
            <a:r>
              <a:t>/Users/jwlee/study1/aisw/docs/gemini_core5_live_review.md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/Users/jwlee/study1/aisw/data/unified_manifest.json</a:t>
            </a:r>
          </a:p>
          <a:p xmlns:a="http://schemas.openxmlformats.org/drawingml/2006/main">
            <a:r>
              <a:t>/Users/jwlee/study1/aisw/data/integrated_eval_chroma_db/ingest_report.json</a:t>
            </a:r>
          </a:p>
          <a:p xmlns:a="http://schemas.openxmlformats.org/drawingml/2006/main">
            <a:r>
              <a:t>/Users/jwlee/study1/aisw/docs/codex_chatbot_separation_report_20260927.md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/Users/jwlee/study1/aisw/docs/collection_expansion_phase2.md</a:t>
            </a:r>
          </a:p>
          <a:p xmlns:a="http://schemas.openxmlformats.org/drawingml/2006/main">
            <a:r>
              <a:t>/Users/jwlee/study1/aisw/docs/campusrag_evaluation_baseline.md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  <a:p xmlns:a="http://schemas.openxmlformats.org/drawingml/2006/main">
            <a:r>
              <a:t>P0 문서 및 산출물 통일은 2026-10-07 완료했습니다. 데이터 갱신과 실제 답변 평가는 다음 과제입니다.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/Users/jwlee/study1/aisw/docs/campusrag_local_container_guide.md</a:t>
            </a:r>
          </a:p>
          <a:p xmlns:a="http://schemas.openxmlformats.org/drawingml/2006/main">
            <a:r>
              <a:t>/Users/jwlee/study1/aisw/docs/codex_cloudtype_assessment_20260926.md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저학년의 반란, CampusRAG 챗봇 전용 개정본 v1.1. 작성 기준 2026-10-07.</a:t>
            </a:r>
          </a:p>
          <a:p xmlns:a="http://schemas.openxmlformats.org/drawingml/2006/main">
            <a:r>
              <a:t>근거 파일: /Users/jwlee/study1/aisw/docs/campusrag_evaluation_baseline.md</a:t>
            </a:r>
          </a:p>
          <a:p xmlns:a="http://schemas.openxmlformats.org/drawingml/2006/main">
            <a:r>
              <a:t>/Users/jwlee/study1/aisw/docs/campusrag_chatbot_scope_20260927.md</a:t>
            </a:r>
          </a:p>
          <a:p xmlns:a="http://schemas.openxmlformats.org/drawingml/2006/main">
            <a:r>
              <a:t>수집 문서·DB 수치는 로컬 읽기 전용 검사 기준. 65 passed, 1 warning은 10월 7일 선별 오프라인 검사. 실제 생성 품질·배포·학생 UT 완료를 뜻하지 않습니다. 목표 수치와 출시 단계는 팀의 향후 계획이며 확정 날짜를 새로 배정하지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84703e43846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1e1b294f447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dc82023b845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0213c916c4f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e2c43133b49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335a0c3f44d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e9f31b43a41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558cbc70045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84f1ae84842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8df3bab2845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02a687f88441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29CA6E-FE04-437C-A0DF-67353D68BDD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0D3837-745B-44FC-87E3-B813BCAAC3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2F962A-5E38-4638-9449-58AF38BE1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B27C12-22AE-49E9-B6CE-55D7E6F712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DF5EBA-7156-4CED-AB7B-1D6FBEDF24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89996E-3E71-4C91-8723-25312EEC1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C3593C-6DED-4F9E-B59A-EA0797E70F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273FC3-AA4B-49E7-91AC-70F5D0CA9A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97CCA8-6A88-434E-8339-76F8BE9E8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A12EF1-EB3E-4E78-BA8D-497EAF177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775AF8-ACA6-434A-825F-BC17F76FE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3DD2A0-C9DD-43A4-A80A-5C196C894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58588F-E858-44FD-B36B-035FD4CE10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2D3400-53B3-46E8-B44A-73061294A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CE58DB-2109-4F56-9EE3-A1F71D86B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630A7E-4B48-498F-AF64-E0448DAA9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D7E31F-D494-46A9-A7EA-A805779A85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3F3CCC-090E-4939-A555-E19DD010E4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A24684-DF2C-42A9-B866-FF9C0824B8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FED37C-8148-47B9-A76D-80847286A5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325DF3-6301-4A8F-B652-0FF710825F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7B83A8-7B69-499B-9A13-A7859C0DB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FFA2C6-1BE6-4588-BB6B-BDF3E2A91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4A36B73-34E2-47B2-8D7C-580A5E2A21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0CD0D8F-6EDC-4766-A9AA-DBE8B78B9EE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9A4F4BE-5E43-4AE2-850A-AA74937A148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7DBE293-6F69-4332-AD80-6732782120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83929B6-63CF-42E1-9E3A-DAD5F62A8F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178637B-9354-4613-B66F-EBC3A30EE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874F88-F85D-4278-8F23-5D625FF5F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9C24FB6-DB0E-4487-94C8-81EA566756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5E9BD17-B208-467D-9CA8-DE25E33D34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7868EF-5CFB-47A5-AA1D-8479ED3DA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7A5BB43-ABAE-4F35-AF30-2B25A3FD2A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0B581FE-381D-426B-A900-FF891F59F2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7F45457-CCDD-4F1F-A87F-36CE54C7D2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CCAAE-6A91-446F-ACBC-6561E90DB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D06891-A120-43C0-8B6B-FFC850EC97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BD323F-FB7A-4057-AA1C-0CAD5F44DC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14C0EF-0BD3-4CF0-B007-F7A6D9270E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C891EBF-0A52-4A39-95AF-F1F71A6DA3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891385-F61E-4A0A-8082-C6404D14B0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FA1FAA-83EF-4CAE-A077-06A5D6A882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FEC8BE9-C4FD-4963-A817-83CD9EB162A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A3FB89-E309-44C7-BBA0-9EAA209B4C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4AF2EC-53E0-4357-83F2-0961BC118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F0AAB43-1767-4414-9E37-B822BA8E5A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BB5DB63-5BBD-475B-A585-E93F908C5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EEE272-F662-4680-A6AA-2F3A40D39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C02F83-D8E3-4AD2-AC77-CC6E73CDC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910B8B-2269-4475-83C9-44E2188E7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1B1BEE-9B53-4E63-BCAE-FFC15A99CA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EF423A-A72B-45FA-935D-FFB91EEB3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B8155E6-8788-4BDB-B2EC-96B21517F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66F78-5E75-4AA8-A8B0-F395438DB8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F7F49A-6727-48DE-AD55-F30CDA79B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A5090-C44D-4666-8FAF-00446C0399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1086B1-017C-4C24-937D-B9C2816489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dfc20b617c4086" /><Relationship Type="http://schemas.openxmlformats.org/officeDocument/2006/relationships/slideLayout" Target="/ppt/slideLayouts/slideLayout1.xml" Id="R848c41107f514260" /><Relationship Type="http://schemas.openxmlformats.org/officeDocument/2006/relationships/slideLayout" Target="/ppt/slideLayouts/slideLayout2.xml" Id="R6380754292f242c4" /><Relationship Type="http://schemas.openxmlformats.org/officeDocument/2006/relationships/slideLayout" Target="/ppt/slideLayouts/slideLayout3.xml" Id="R1d1816a259704a57" /><Relationship Type="http://schemas.openxmlformats.org/officeDocument/2006/relationships/slideLayout" Target="/ppt/slideLayouts/slideLayout4.xml" Id="Rcc3912cfb8114bca" /><Relationship Type="http://schemas.openxmlformats.org/officeDocument/2006/relationships/slideLayout" Target="/ppt/slideLayouts/slideLayout5.xml" Id="Rdac8cf6ed1ad44c2" /><Relationship Type="http://schemas.openxmlformats.org/officeDocument/2006/relationships/slideLayout" Target="/ppt/slideLayouts/slideLayout6.xml" Id="Rfc23a268e9174949" /><Relationship Type="http://schemas.openxmlformats.org/officeDocument/2006/relationships/slideLayout" Target="/ppt/slideLayouts/slideLayout7.xml" Id="R3583cb8b27ac455b" /><Relationship Type="http://schemas.openxmlformats.org/officeDocument/2006/relationships/slideLayout" Target="/ppt/slideLayouts/slideLayout8.xml" Id="R570dcd6301214af1" /><Relationship Type="http://schemas.openxmlformats.org/officeDocument/2006/relationships/slideLayout" Target="/ppt/slideLayouts/slideLayout9.xml" Id="Rcf33afd44d50420c" /><Relationship Type="http://schemas.openxmlformats.org/officeDocument/2006/relationships/slideLayout" Target="/ppt/slideLayouts/slideLayout10.xml" Id="R85d39baf082a472f" /><Relationship Type="http://schemas.openxmlformats.org/officeDocument/2006/relationships/slideLayout" Target="/ppt/slideLayouts/slideLayout11.xml" Id="Rd16f63ab98cf480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0DC77E0-1991-4C68-B375-8F702A9FA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6579C-E38C-4554-AD20-D0B12B1D43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13405A-DE74-4498-B671-056A11A51C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E64512-63BA-4459-AFD8-50663FBB6B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F60A46-AF11-40E8-ACC0-7476E80A92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c41107f514260"/>
    <p:sldLayoutId xmlns:r="http://schemas.openxmlformats.org/officeDocument/2006/relationships" id="2147483650" r:id="R6380754292f242c4"/>
    <p:sldLayoutId xmlns:r="http://schemas.openxmlformats.org/officeDocument/2006/relationships" id="2147483651" r:id="R1d1816a259704a57"/>
    <p:sldLayoutId xmlns:r="http://schemas.openxmlformats.org/officeDocument/2006/relationships" id="2147483652" r:id="Rcc3912cfb8114bca"/>
    <p:sldLayoutId xmlns:r="http://schemas.openxmlformats.org/officeDocument/2006/relationships" id="2147483653" r:id="Rdac8cf6ed1ad44c2"/>
    <p:sldLayoutId xmlns:r="http://schemas.openxmlformats.org/officeDocument/2006/relationships" id="2147483654" r:id="Rfc23a268e9174949"/>
    <p:sldLayoutId xmlns:r="http://schemas.openxmlformats.org/officeDocument/2006/relationships" id="2147483655" r:id="R3583cb8b27ac455b"/>
    <p:sldLayoutId xmlns:r="http://schemas.openxmlformats.org/officeDocument/2006/relationships" id="2147483656" r:id="R570dcd6301214af1"/>
    <p:sldLayoutId xmlns:r="http://schemas.openxmlformats.org/officeDocument/2006/relationships" id="2147483657" r:id="Rcf33afd44d50420c"/>
    <p:sldLayoutId xmlns:r="http://schemas.openxmlformats.org/officeDocument/2006/relationships" id="2147483658" r:id="R85d39baf082a472f"/>
    <p:sldLayoutId xmlns:r="http://schemas.openxmlformats.org/officeDocument/2006/relationships" id="2147483659" r:id="Rd16f63ab98cf480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ab5dceecc44561" /><Relationship Type="http://schemas.openxmlformats.org/officeDocument/2006/relationships/notesSlide" Target="/ppt/notesSlides/notesSlide1.xml" Id="R5035c46ff115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8c7588dad84349" /><Relationship Type="http://schemas.openxmlformats.org/officeDocument/2006/relationships/notesSlide" Target="/ppt/notesSlides/notesSlide2.xml" Id="R48809fb67da54b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b88f7bdaf74b94" /><Relationship Type="http://schemas.openxmlformats.org/officeDocument/2006/relationships/notesSlide" Target="/ppt/notesSlides/notesSlide3.xml" Id="R3f2596f88ace4b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eda68293694f88" /><Relationship Type="http://schemas.openxmlformats.org/officeDocument/2006/relationships/notesSlide" Target="/ppt/notesSlides/notesSlide4.xml" Id="R67835d94e2cc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30a3f70d5041fc" /><Relationship Type="http://schemas.openxmlformats.org/officeDocument/2006/relationships/notesSlide" Target="/ppt/notesSlides/notesSlide5.xml" Id="R982ba2744ad342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ae9953613f43f4" /><Relationship Type="http://schemas.openxmlformats.org/officeDocument/2006/relationships/notesSlide" Target="/ppt/notesSlides/notesSlide6.xml" Id="R1a7c8f182c13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e45ea7fd8e4ce0" /><Relationship Type="http://schemas.openxmlformats.org/officeDocument/2006/relationships/notesSlide" Target="/ppt/notesSlides/notesSlide7.xml" Id="Rec251f462b0b4f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d59b2827b4843" /><Relationship Type="http://schemas.openxmlformats.org/officeDocument/2006/relationships/notesSlide" Target="/ppt/notesSlides/notesSlide8.xml" Id="Re70057f8aad8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25a106058a4e75" /><Relationship Type="http://schemas.openxmlformats.org/officeDocument/2006/relationships/notesSlide" Target="/ppt/notesSlides/notesSlide9.xml" Id="R15047984f62c46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333AE3-4C32-4E43-96C3-1F7C1EA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E593F6F-6B65-40F2-AC11-0B91506E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256032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저학년의 반란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EC51295-E4DD-461B-A039-F1A7BB32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33272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16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48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CampusRAG</a:t>
            </a:r>
          </a:p>
          <a:p xmlns:a="http://schemas.openxmlformats.org/drawingml/2006/main">
            <a:pPr>
              <a:spcAft>
                <a:spcPts val="16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한성대학교 공식 공지 RAG 챗봇</a:t>
            </a:r>
          </a:p>
          <a:p xmlns:a="http://schemas.openxmlformats.org/drawingml/2006/main">
            <a:pPr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725">
                <a:solidFill>
                  <a:srgbClr val="CBD5E1"/>
                </a:solidFill>
                <a:latin typeface="Nanum Gothic"/>
                <a:ea typeface="Nanum Gothic"/>
                <a:cs typeface="Nanum Gothic"/>
              </a:rPr>
              <a:t>로그인 없이 질문하고 답변과 공식 원문을 확인합니다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CD0D15-C04C-4434-AE2C-0D087372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94A3B8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94A3B8"/>
                </a:solidFill>
                <a:latin typeface="Nanum Gothic"/>
                <a:ea typeface="Nanum Gothic"/>
                <a:cs typeface="Nanum Gothic"/>
              </a:rPr>
              <a:t>챗봇 전용 개정본 v1.1   2026.10.07</a:t>
            </a:r>
          </a:p>
        </p:txBody>
      </p:sp>
    </p:spTree>
    <p:extLst>
      <p:ext uri="{BB962C8B-B14F-4D97-AF65-F5344CB8AC3E}">
        <p14:creationId xmlns:p14="http://schemas.microsoft.com/office/powerpoint/2010/main" val="3941245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A73FC20-154B-4681-9413-BB324E1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ABBBEC-F3D4-401E-977B-BFA7FE3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FBA90C0-8CC8-4CA6-83DC-143C55B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9A2EB7-FBBA-47E0-9A33-C393EE0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문제 정의와 챗봇 MVP 범위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7F38641-41A9-4485-B364-420D2387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7D05FDD-4FEE-4329-AE39-EB3CA8A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분산된 공식 공지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필요한 정보를 직접 찾는 부담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학생은 본부·학과·장학·취업 게시판을 오가며 정보를 찾습니다.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제목만으로 신청 기간과 지원 조건을 알기 어렵습니다.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자료의 출처를 함께 확인할 수 있어야 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9294317-1923-428A-8811-CE61953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4FF539-3E54-445E-8826-21F7445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본문과 첨부의 공백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통합본의 한계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PDF·HWP·포스터에 핵심 내용이 들어 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1,366문서 중 제목만 있는 문서는 202건입니다.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본문이 없거나 근거가 부족하면 원문 확인을 안내합니다.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F4D8800-76F7-4726-8196-5E3A664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5240">
            <a:solidFill>
              <a:srgbClr val="3B8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D34970-00DF-4455-AB48-B368286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전용 MVP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매 질문을 독립적으로 처리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익명 질의, 근거 검색, 요약과 출처 카드, 공식 원문 확인을 제공합니다.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개인 일정·로그인·캘린더·알림 기능은 활성 범위에서 제외합니다.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주요 대상은 한성대학교 학생입니다.</a:t>
            </a:r>
          </a:p>
        </p:txBody>
      </p:sp>
    </p:spTree>
    <p:extLst>
      <p:ext uri="{BB962C8B-B14F-4D97-AF65-F5344CB8AC3E}">
        <p14:creationId xmlns:p14="http://schemas.microsoft.com/office/powerpoint/2010/main" val="10846582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5D3095-2235-4E06-9E1A-672840D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6B44EA-8C0C-441D-BB5F-C0BABF5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D1DE8D3-1755-4EF7-BECA-2DA18889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3DAC4F-4110-4967-B23B-A24F8019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질문부터 공식 원문 확인까지</a:t>
            </a:r>
          </a:p>
        </p:txBody>
      </p:sp>
      <p:sp>
        <p:nvSpPr>
          <p:cNvPr id="6" name="1  익명 질문">
            <a:extLst xmlns:a="http://schemas.openxmlformats.org/drawingml/2006/main">
              <a:ext uri="{FF2B5EF4-FFF2-40B4-BE49-F238E27FC236}">
                <a16:creationId xmlns:a16="http://schemas.microsoft.com/office/drawing/2014/main" id="{FC582DF1-BAD1-43BC-86C5-59A5018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1  익명 질문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React 웹 화면
FastAPI 요청</a:t>
            </a:r>
          </a:p>
        </p:txBody>
      </p:sp>
      <p:sp>
        <p:nvSpPr>
          <p:cNvPr id="7" name="2  근거 검색">
            <a:extLst xmlns:a="http://schemas.openxmlformats.org/drawingml/2006/main">
              <a:ext uri="{FF2B5EF4-FFF2-40B4-BE49-F238E27FC236}">
                <a16:creationId xmlns:a16="http://schemas.microsoft.com/office/drawing/2014/main" id="{0C13631A-F833-4C73-9C6E-632D2B7A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2  근거 검색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ko-sroberta 임베딩
Chroma 지식 검색</a:t>
            </a:r>
          </a:p>
        </p:txBody>
      </p:sp>
      <p:sp>
        <p:nvSpPr>
          <p:cNvPr id="8" name="3  요약 생성">
            <a:extLst xmlns:a="http://schemas.openxmlformats.org/drawingml/2006/main">
              <a:ext uri="{FF2B5EF4-FFF2-40B4-BE49-F238E27FC236}">
                <a16:creationId xmlns:a16="http://schemas.microsoft.com/office/drawing/2014/main" id="{45DAECDE-53DB-4308-B3F4-E927366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3  요약 생성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Gemini API
검색 근거로 답변</a:t>
            </a:r>
          </a:p>
        </p:txBody>
      </p:sp>
      <p:sp>
        <p:nvSpPr>
          <p:cNvPr id="9" name="4  원문 확인">
            <a:extLst xmlns:a="http://schemas.openxmlformats.org/drawingml/2006/main">
              <a:ext uri="{FF2B5EF4-FFF2-40B4-BE49-F238E27FC236}">
                <a16:creationId xmlns:a16="http://schemas.microsoft.com/office/drawing/2014/main" id="{60B2E224-3AD0-478E-9389-0315E02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4288">
            <a:solidFill>
              <a:srgbClr val="3B82F6"/>
            </a:solidFill>
          </a:ln>
        </p:spPr>
        <p:txBody>
          <a:bodyPr xmlns:a="http://schemas.openxmlformats.org/drawingml/2006/main" lIns="171450" tIns="247650" rIns="171450" bIns="95250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00"/>
              </a:spcAft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4  원문 확인</a:t>
            </a:r>
          </a:p>
          <a:p xmlns:a="http://schemas.openxmlformats.org/drawingml/2006/main">
            <a:pPr algn="l">
              <a:buNone/>
              <a:defRPr>
                <a:latin typeface="Nanum Gothic"/>
                <a:ea typeface="Nanum Gothic"/>
                <a:cs typeface="Nanum Gothic"/>
              </a:defRPr>
            </a:pPr>
            <a:r>
              <a:rPr sz="1575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출처 카드와 게시일
공식 링크 확인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72500" y="3009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tailEnd type="triangle" w="sm" len="sm"/>
          </a:ln>
        </p:spPr>
      </p:cxnSp>
      <p:sp>
        <p:nvSpPr>
          <p:cNvPr id="13" name="knowledge-build">
            <a:extLst xmlns:a="http://schemas.openxmlformats.org/drawingml/2006/main">
              <a:ext uri="{FF2B5EF4-FFF2-40B4-BE49-F238E27FC236}">
                <a16:creationId xmlns:a16="http://schemas.microsoft.com/office/drawing/2014/main" id="{9E197AC9-6E71-44AA-9D3C-A1DBB85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32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BD5E1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CBD5E1"/>
                </a:solidFill>
                <a:latin typeface="Nanum Gothic"/>
                <a:ea typeface="Nanum Gothic"/>
                <a:cs typeface="Nanum Gothic"/>
              </a:rPr>
              <a:t>사전 준비: 공식 수집  ·  PDF/HWP/HWPX/이미지 추출  ·  통합 JSON과 Chroma 색인</a:t>
            </a:r>
          </a:p>
        </p:txBody>
      </p:sp>
      <p:sp>
        <p:nvSpPr>
          <p:cNvPr id="14" name="current-configuration">
            <a:extLst xmlns:a="http://schemas.openxmlformats.org/drawingml/2006/main">
              <a:ext uri="{FF2B5EF4-FFF2-40B4-BE49-F238E27FC236}">
                <a16:creationId xmlns:a16="http://schemas.microsoft.com/office/drawing/2014/main" id="{E8359564-40BB-4D20-8605-6186C51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032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93C5F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93C5FD"/>
                </a:solidFill>
                <a:latin typeface="Nanum Gothic"/>
                <a:ea typeface="Nanum Gothic"/>
                <a:cs typeface="Nanum Gothic"/>
              </a:rPr>
              <a:t>현재 생성 경로는 외부 Gemini API입니다. 임베딩과 지식 검색은 서버에서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675415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C3CC6C5-DBAB-40A1-9499-B93B9ABF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06D7E1-A90B-4423-B7FF-9DAE7DD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2FEEA5C-86D5-4CBF-BC9E-820C1C8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A8A77F-260C-48DE-8FD3-DD972EE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자료 수집과 첨부파일 추출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91A166-C9D1-493C-826D-B134A8E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A67D90-2011-4CE4-8A1A-2FCB0D54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6634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구현한 추출 경로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공식 본문과 미디어를 함께 처리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HWP 5.0와 HWPX 텍스트를 파싱합니다.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PDF 텍스트를 추출하고 스캔 문서는 Tesseract OCR로 처리합니다.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이미지 OCR은 한국어·영어를 사용합니다.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추출문과 원문 식별 정보를 지식 데이터에 보존합니다.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3872079-7D17-4A7D-9506-0124644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2120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E40A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8F1FA3-3577-4922-8D90-E88990F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7548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예외와 자원 제한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실패를 기록하고 이전 성공본 보존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사설 IP 접근과 위험한 리다이렉트를 차단합니다.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파일당 20MB, PDF 최대 10페이지 제한을 적용합니다.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암호화·미지원·빈 추출 결과를 상태로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DOCX·PPTX 지식 적재는 현재 MVP 지원 범위가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612312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B96CF-1FCD-467C-960B-276EBF9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7CCB93-3C1A-4B7C-9D8D-64D7B874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B33353C-512F-4165-B158-FC5B31B6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C46CF2-653A-455B-9E32-4546F34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학내 질문을 위한 검색과 답변 보호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7E824B9-235A-4946-8892-1E1EAC2A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65AD20A-6DDD-41DB-9D99-72C02CE8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기간과 자료 유형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공지와 상시 안내의 검색 정책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질문의 연도·학기 정보를 검색 순위에 반영합니다.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공지의 시점을 고려하고 FAQ·서식 등 상시 자료는 별도로 취급합니다.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데이터의 최신 확인일을 운영 화면과 기록에 남겨야 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F07BAE-B636-4E89-A626-363B4B59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D94204-38C9-4D55-80E4-AF374748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약어와 질문 범위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학내 질문의 관련성 판단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TOPCIT·CPA 등 전문 약어 검색을 보완했습니다.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순수 코드 작성 요청은 근거가 없으면 조기에 유보합니다.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교내 코딩 교육 신청은 학내 질문으로 처리합니다.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DC63D83-F1C8-41F2-B17D-BF9CC5A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D3F155-2CD0-461F-BBC5-A16CE73C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부족과 API 오류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실제 생성 품질은 후속 검증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제목만 있는 자료는 세부 조건을 추측하지 않습니다.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429·인증·일시 오류를 정상 답변과 구분합니다.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다단계 마감, 제외 조건과 문서 간 혼입은 실답변 평가로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724588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DC5E9A-CB7E-4FA3-8646-0562503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765D8-1765-4827-B408-89C2CB5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6A506A1-ECC4-48D6-89F8-9776DFD9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1A5B6C-1B16-4945-B445-E92BE62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구현과 확인한 검증 범위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EFDC4B-978D-41B3-ABEC-F2457671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13D671-BF0E-459C-A5D5-F326DBA9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1,366문서 / 3,447청크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2026.09.15 기준 통합 스냅샷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공지 986, 상시 안내 144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FAQ 179, 서식 57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본문 확보 상태 1,164, 제목만 202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10월 7일 DB와 JSON ID·내용 해시의 누락·추가·불일치 0건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AABCA8B-2F26-4FF7-AAA7-A298218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B9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1C28E4-787E-4D86-BD35-9627BC91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83464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선별 오프라인 65 통과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2026.10.07 검사, warning 1건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범위·API 분기·검색 보호·날짜 처리를 확인했습니다.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원문 근거 10사례를 대조했습니다.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mock 테스트 통과는 실제 LLM 정답률을 뜻하지 않습니다.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실제 답변 품질과 지연은 재평가가 필요합니다.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33A2CD8-DB83-44DD-8FBA-127233D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DB6896-3012-487D-890D-4A22123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익명 웹 챗봇 구현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React와 FastAPI 코어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질문 입력과 답변·공식 출처 카드 흐름을 구현했습니다.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활성 API는 health, query, retrieve입니다.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전용 최신판 이미지와 외부 배포 검증이 남았습니다.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UT는 아직 완료하지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2868171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431081-340A-4BAF-BCB4-B5369B1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BE9F8B-1150-4B30-9D32-9F8C7A6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F3735E9-2AA8-4240-A9AC-C506E86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BA6D54-2AD1-4070-A21D-4A917A6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P0  최신 데이터와 실제 답변 평가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36B5620-B671-46AC-9D3B-E82F596D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825316-6FFE-466C-87A5-50281053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문서와 범위 통일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출시 기준 정리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PRD·WBS·발표자료를 챗봇 기준으로 통일했습니다.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완료한 구현과 계획·목표를 분리합니다.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다음 작업과 완료 조건을 같은 기준으로 관리합니다.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3B60659-0AE6-467C-B9B6-D28E6A4C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B8A513-58C0-4BC4-98CC-C828DF8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최신 데이터 반영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수집에서 서비스까지 연결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9월 15일 스냅샷 이후 공지와 상시 자료를 갱신합니다.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우선순위 제목 전용 자료와 누락 첨부를 보강합니다.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수집·통합·색인·무결성 검사를 거쳐 서비스에 반영합니다.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29FEB56-E9CE-4081-9A70-6C70180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E2715F-7E2A-4CBE-A398-6B0041F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30~50문항 실답변 평가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지지율 90%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기간·예외 조건·원문 충돌·유보 사례를 포함합니다.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검색과 생성, API 오류와 미실행을 별도 집계합니다.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근거 지지율과 응답시간 p50·p95를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목표 수치는 현재 달성 결과가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553283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FA9A3F-A898-45E3-806D-2579D917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F65D4ED-E7E4-4C6D-8D92-7CA9270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3B82F6"/>
                </a:solidFill>
                <a:latin typeface="Nanum Gothic"/>
                <a:ea typeface="Nanum Gothic"/>
                <a:cs typeface="Nanum Gothic"/>
              </a:rPr>
              <a:t>CampusRAG  저학년의 반란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734F300-4E3E-4FF9-8E89-3B874D15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"/>
            <a:ext cx="1399032" cy="320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A68162-EF55-49DE-B728-FA0F033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3152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24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P1  안정화, 배포와 학생 사용성 평가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E349F3-EECF-450B-A204-84B73210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39C5E7-2F7E-4AC5-B63D-BBDE183F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운영 안정화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실제 환경에서 자원 측정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LLM 모델·키 유효성과 호출 예산을 확인합니다.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첫 질의와 반복 질의의 메모리·지연을 측정합니다.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요청 제한·타임아웃·오류 로그를 운영 기준으로 정리합니다.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1EC5C06-6F59-412C-A78F-B72EE46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F4EBB4-6321-45AB-8C53-C792FC9F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배포 후보 검증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Cloudtype 적합성 확인 필요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현재 무료 후보 환경은 RAM 1GB, 임시 디스크 1GB입니다.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매일 중지 조건과 모델 캐시·색인 반영 방식을 확인합니다.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챗봇 이미지를 재빌드하고 HTTPS에서 실제 질의를 검증합니다.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BF2B61-D865-4F62-A4AD-3DFBF13B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3832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ADB3CF-70ED-4D16-AEE5-89CD23C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28800"/>
            <a:ext cx="29260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10명 이상 UT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만족도 4/5 이상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학사 질문을 입력하고 출처 원문을 확인하는 과제를 진행합니다.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답변 이해도·근거 확인·실패 사례를 기록합니다.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만족도와 과제 성공률을 측정합니다.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0F172A"/>
                </a:solidFill>
                <a:latin typeface="Nanum Gothic"/>
                <a:ea typeface="Nanum Gothic"/>
                <a:cs typeface="Nanum Gothic"/>
              </a:rPr>
              <a:t>학생 검증 후 오답을 평가셋에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604933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5FD9B2-A27C-4513-97EB-58748CE1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586F0F-593F-43F9-9409-BAD2336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1520"/>
            <a:ext cx="10332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챗봇 MVP의 완료 기준과 후속 고도화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E4ADE1-2503-4314-A67F-C04830FF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484632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B8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FF3399-8D73-4200-9193-A7CDF7A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4560"/>
            <a:ext cx="43891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MVP 완료 기준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실제 결과로 확인할 항목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30~50문항에서 근거 지지율 90% 이상 목표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최신 데이터 반영과 재시작 후 검색 정상 확인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배포 환경의 메모리·응답시간·오류 기록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학생 10명 이상 UT와 만족도 4/5 이상 목표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5C0D0FB-FEE3-48DD-A2BC-98F8AE7E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484632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10B98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99575EE-2CF9-47C3-8378-065AD38D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4560"/>
            <a:ext cx="4389120" cy="3749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65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P2  검증 후 고도화</a:t>
            </a:r>
          </a:p>
          <a:p xmlns:a="http://schemas.openxmlformats.org/drawingml/2006/main">
            <a:pPr>
              <a:spcAft>
                <a:spcPts val="1200"/>
              </a:spcAft>
              <a:buNone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성능 병목과 사용자 결과에 따라 선택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검색 누락이 남으면 BM25·Dense 결합을 비교합니다.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표·다단계 일정의 청크 구조를 보완합니다.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응답시간과 비용을 측정한 후 스트리밍·캐시를 검토합니다.</a:t>
            </a:r>
          </a:p>
          <a:p xmlns:a="http://schemas.openxmlformats.org/drawingml/2006/main">
            <a:pPr marL="165100" indent="-76200">
              <a:spcAft>
                <a:spcPts val="1000"/>
              </a:spcAft>
              <a:buChar char="•"/>
              <a:def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defRPr>
            </a:pPr>
            <a:r>
              <a:rPr sz="1500">
                <a:solidFill>
                  <a:srgbClr val="E2E8F0"/>
                </a:solidFill>
                <a:latin typeface="Nanum Gothic"/>
                <a:ea typeface="Nanum Gothic"/>
                <a:cs typeface="Nanum Gothic"/>
              </a:rPr>
              <a:t>기능 확장은 챗봇 품질 검증 이후 별도로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809378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2026-10-07T08:15:31.2060000Z</dcterms:created>
  <dcterms:modified xsi:type="dcterms:W3CDTF">2026-10-07T08:15:31.2060000Z</dcterms:modified>
</coreProperties>
</file>